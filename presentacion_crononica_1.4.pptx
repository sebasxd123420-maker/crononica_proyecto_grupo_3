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56" r:id="rId3"/>
    <p:sldId id="258" r:id="rId4"/>
    <p:sldId id="260" r:id="rId5"/>
    <p:sldId id="268" r:id="rId6"/>
    <p:sldId id="261" r:id="rId7"/>
    <p:sldId id="262" r:id="rId8"/>
    <p:sldId id="263" r:id="rId9"/>
    <p:sldId id="259" r:id="rId10"/>
    <p:sldId id="264" r:id="rId11"/>
    <p:sldId id="265" r:id="rId12"/>
    <p:sldId id="267" r:id="rId13"/>
    <p:sldId id="266" r:id="rId14"/>
    <p:sldId id="269" r:id="rId15"/>
    <p:sldId id="270" r:id="rId1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E8D"/>
    <a:srgbClr val="255683"/>
    <a:srgbClr val="C39E51"/>
    <a:srgbClr val="C7A152"/>
    <a:srgbClr val="B793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5" d="100"/>
          <a:sy n="55" d="100"/>
        </p:scale>
        <p:origin x="109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p:cNvSpPr>
            <a:spLocks noGrp="1"/>
          </p:cNvSpPr>
          <p:nvPr>
            <p:ph sz="half" idx="2" hasCustomPrompt="1"/>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0E57D7FC-D395-4641-98BA-9D4AC4C07244}" type="datetimeFigureOut">
              <a:rPr lang="es-CO" smtClean="0"/>
              <a:t>7/09/2026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0E57D7FC-D395-4641-98BA-9D4AC4C07244}" type="datetimeFigureOut">
              <a:rPr lang="es-CO" smtClean="0"/>
              <a:t>7/09/2026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E57D7FC-D395-4641-98BA-9D4AC4C07244}" type="datetimeFigureOut">
              <a:rPr lang="es-CO" smtClean="0"/>
              <a:t>7/09/2026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hasCustomPrompt="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hasCustomPrompt="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hasCustomPrompt="1"/>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p:cNvSpPr>
            <a:spLocks noGrp="1"/>
          </p:cNvSpPr>
          <p:nvPr>
            <p:ph sz="half" idx="2" hasCustomPrompt="1"/>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0E57D7FC-D395-4641-98BA-9D4AC4C07244}" type="datetimeFigureOut">
              <a:rPr lang="es-CO" smtClean="0"/>
              <a:t>7/09/2026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0E57D7FC-D395-4641-98BA-9D4AC4C07244}" type="datetimeFigureOut">
              <a:rPr lang="es-CO" smtClean="0"/>
              <a:t>7/09/2026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E57D7FC-D395-4641-98BA-9D4AC4C07244}" type="datetimeFigureOut">
              <a:rPr lang="es-CO" smtClean="0"/>
              <a:t>7/09/2026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0E57D7FC-D395-4641-98BA-9D4AC4C07244}" type="datetimeFigureOut">
              <a:rPr lang="es-CO" smtClean="0"/>
              <a:t>7/09/2026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hasCustomPrompt="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0E57D7FC-D395-4641-98BA-9D4AC4C07244}" type="datetimeFigureOut">
              <a:rPr lang="es-CO" smtClean="0"/>
              <a:t>7/09/2026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84425165-3206-4BA8-B44E-20AC7FB2C114}"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57D7FC-D395-4641-98BA-9D4AC4C07244}" type="datetimeFigureOut">
              <a:rPr lang="es-CO" smtClean="0"/>
              <a:t>7/09/2026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25165-3206-4BA8-B44E-20AC7FB2C114}"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57D7FC-D395-4641-98BA-9D4AC4C07244}" type="datetimeFigureOut">
              <a:rPr lang="es-CO" smtClean="0"/>
              <a:t>7/09/2026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25165-3206-4BA8-B44E-20AC7FB2C114}"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a:extLst>
              <a:ext uri="{28A0092B-C50C-407E-A947-70E740481C1C}">
                <a14:useLocalDpi xmlns:a14="http://schemas.microsoft.com/office/drawing/2010/main" val="0"/>
              </a:ext>
            </a:extLst>
          </a:blip>
          <a:srcRect l="-1" t="7275" r="539"/>
          <a:stretch>
            <a:fillRect/>
          </a:stretch>
        </p:blipFill>
        <p:spPr>
          <a:xfrm>
            <a:off x="2190163" y="618978"/>
            <a:ext cx="7797605" cy="48463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426371" y="436098"/>
            <a:ext cx="3180008" cy="2781396"/>
          </a:xfrm>
          <a:prstGeom prst="rect">
            <a:avLst/>
          </a:prstGeom>
        </p:spPr>
      </p:pic>
      <p:sp>
        <p:nvSpPr>
          <p:cNvPr id="2" name="CuadroTexto 1"/>
          <p:cNvSpPr txBox="1"/>
          <p:nvPr/>
        </p:nvSpPr>
        <p:spPr>
          <a:xfrm>
            <a:off x="781226" y="436098"/>
            <a:ext cx="4828032" cy="769441"/>
          </a:xfrm>
          <a:prstGeom prst="rect">
            <a:avLst/>
          </a:prstGeom>
          <a:noFill/>
        </p:spPr>
        <p:txBody>
          <a:bodyPr wrap="square" rtlCol="0">
            <a:spAutoFit/>
          </a:bodyPr>
          <a:lstStyle/>
          <a:p>
            <a:r>
              <a:rPr lang="es-NI" sz="4400" b="1" dirty="0">
                <a:solidFill>
                  <a:srgbClr val="C39E51"/>
                </a:solidFill>
                <a:latin typeface="Times New Roman" panose="02020603050405020304" pitchFamily="18" charset="0"/>
                <a:cs typeface="Times New Roman" panose="02020603050405020304" pitchFamily="18" charset="0"/>
              </a:rPr>
              <a:t>Descr</a:t>
            </a:r>
            <a:r>
              <a:rPr lang="es-NI" sz="4400" b="1" dirty="0">
                <a:solidFill>
                  <a:srgbClr val="255683"/>
                </a:solidFill>
                <a:latin typeface="Times New Roman" panose="02020603050405020304" pitchFamily="18" charset="0"/>
                <a:cs typeface="Times New Roman" panose="02020603050405020304" pitchFamily="18" charset="0"/>
              </a:rPr>
              <a:t>ipción</a:t>
            </a:r>
          </a:p>
        </p:txBody>
      </p:sp>
      <p:sp>
        <p:nvSpPr>
          <p:cNvPr id="3" name="CuadroTexto 2"/>
          <p:cNvSpPr txBox="1"/>
          <p:nvPr/>
        </p:nvSpPr>
        <p:spPr>
          <a:xfrm>
            <a:off x="781226" y="1426464"/>
            <a:ext cx="10301302" cy="3539430"/>
          </a:xfrm>
          <a:prstGeom prst="rect">
            <a:avLst/>
          </a:prstGeom>
          <a:noFill/>
        </p:spPr>
        <p:txBody>
          <a:bodyPr wrap="square" rtlCol="0">
            <a:spAutoFit/>
          </a:bodyPr>
          <a:lstStyle/>
          <a:p>
            <a:r>
              <a:rPr lang="es-NI" sz="2800" dirty="0">
                <a:latin typeface="Times New Roman" panose="02020603050405020304" pitchFamily="18" charset="0"/>
                <a:cs typeface="Times New Roman" panose="02020603050405020304" pitchFamily="18" charset="0"/>
              </a:rPr>
              <a:t>Nuestra empresa llamada CronoNica es una empresa encargada de desarrollar aplicaciones para móviles centrada mas en la creación de videojuegos, teniendo como objetivo llevar mas allá que una simple asignatura lo que es la historia nicaragüense, desarrollando videojuegos educativos a base de la historia de nuestro país, buscando ampliarnos en el mercado de la creación de  videojuegos educativos teniendo en la mira a escuelas y universidades como potenciales clientes</a:t>
            </a:r>
            <a:r>
              <a:rPr lang="es-NI"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329984"/>
          </a:xfrm>
          <a:prstGeom prst="rect">
            <a:avLst/>
          </a:prstGeom>
          <a:solidFill>
            <a:srgbClr val="255683"/>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329984"/>
            <a:ext cx="356591"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807310" y="329984"/>
            <a:ext cx="384689"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139578" y="3980074"/>
            <a:ext cx="3667731" cy="2335513"/>
          </a:xfrm>
          <a:prstGeom prst="rect">
            <a:avLst/>
          </a:prstGeom>
        </p:spPr>
      </p:pic>
      <p:sp>
        <p:nvSpPr>
          <p:cNvPr id="13" name="Rectángulo 12"/>
          <p:cNvSpPr/>
          <p:nvPr/>
        </p:nvSpPr>
        <p:spPr>
          <a:xfrm flipH="1">
            <a:off x="1053398" y="963565"/>
            <a:ext cx="45719" cy="4761541"/>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p:cNvSpPr/>
          <p:nvPr/>
        </p:nvSpPr>
        <p:spPr>
          <a:xfrm rot="5400000">
            <a:off x="2481568" y="-1262192"/>
            <a:ext cx="45719" cy="369496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p:cNvSpPr/>
          <p:nvPr/>
        </p:nvSpPr>
        <p:spPr>
          <a:xfrm rot="5400000">
            <a:off x="4380453" y="2365867"/>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7" name="Rectángulo 16"/>
          <p:cNvSpPr/>
          <p:nvPr/>
        </p:nvSpPr>
        <p:spPr>
          <a:xfrm rot="5400000">
            <a:off x="3525421" y="-838355"/>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p:cNvSpPr/>
          <p:nvPr/>
        </p:nvSpPr>
        <p:spPr>
          <a:xfrm rot="5400000">
            <a:off x="9907559" y="-1091732"/>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p:cNvSpPr/>
          <p:nvPr/>
        </p:nvSpPr>
        <p:spPr>
          <a:xfrm flipH="1">
            <a:off x="495477" y="48103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p:cNvSpPr/>
          <p:nvPr/>
        </p:nvSpPr>
        <p:spPr>
          <a:xfrm rot="5400000">
            <a:off x="1324474" y="5158028"/>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5" name="Rectángulo 24"/>
          <p:cNvSpPr/>
          <p:nvPr/>
        </p:nvSpPr>
        <p:spPr>
          <a:xfrm flipH="1">
            <a:off x="756607" y="5109059"/>
            <a:ext cx="45719" cy="113152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p:cNvSpPr/>
          <p:nvPr/>
        </p:nvSpPr>
        <p:spPr>
          <a:xfrm rot="5400000" flipH="1">
            <a:off x="1378446" y="5572058"/>
            <a:ext cx="45719" cy="129190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p:cNvSpPr/>
          <p:nvPr/>
        </p:nvSpPr>
        <p:spPr>
          <a:xfrm rot="16200000">
            <a:off x="9667686" y="-1275454"/>
            <a:ext cx="45719" cy="3931514"/>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p:cNvSpPr txBox="1"/>
          <p:nvPr/>
        </p:nvSpPr>
        <p:spPr>
          <a:xfrm>
            <a:off x="1487355" y="1294447"/>
            <a:ext cx="10265620" cy="583565"/>
          </a:xfrm>
          <a:prstGeom prst="rect">
            <a:avLst/>
          </a:prstGeom>
          <a:noFill/>
        </p:spPr>
        <p:txBody>
          <a:bodyPr wrap="square" rtlCol="0">
            <a:spAutoFit/>
          </a:bodyPr>
          <a:lstStyle/>
          <a:p>
            <a:r>
              <a:rPr lang="es-ES" altLang="es-NI" sz="3200" b="1" dirty="0">
                <a:solidFill>
                  <a:srgbClr val="2B5E8D"/>
                </a:solidFill>
                <a:latin typeface="Times New Roman" panose="02020603050405020304" pitchFamily="18" charset="0"/>
                <a:cs typeface="Times New Roman" panose="02020603050405020304" pitchFamily="18" charset="0"/>
              </a:rPr>
              <a:t>Objetivos</a:t>
            </a:r>
          </a:p>
        </p:txBody>
      </p:sp>
      <p:sp>
        <p:nvSpPr>
          <p:cNvPr id="30" name="Google Shape;145;p28"/>
          <p:cNvSpPr txBox="1"/>
          <p:nvPr/>
        </p:nvSpPr>
        <p:spPr>
          <a:xfrm>
            <a:off x="1469390" y="1837055"/>
            <a:ext cx="9006840" cy="1915795"/>
          </a:xfrm>
          <a:prstGeom prst="rect">
            <a:avLst/>
          </a:prstGeom>
          <a:noFill/>
          <a:ln>
            <a:noFill/>
          </a:ln>
        </p:spPr>
        <p:txBody>
          <a:bodyPr spcFirstLastPara="1" wrap="square" lIns="91425" tIns="91425" rIns="91425" bIns="91425" anchor="t" anchorCtr="0">
            <a:noAutofit/>
          </a:bodyPr>
          <a:lstStyle/>
          <a:p>
            <a:pPr lvl="0" algn="l">
              <a:lnSpc>
                <a:spcPct val="115000"/>
              </a:lnSpc>
              <a:spcAft>
                <a:spcPts val="1600"/>
              </a:spcAft>
            </a:pP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Desarrollar una plataforma de videojuegos educativos que permita a los estudiantes aprender sobre la historia de Nicaragua de forma interactiva y din</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á</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mica, aprovechando las herramientas tecnol</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ó</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gicas actuales para fortalecer sus conocimientos y su identidad nacional.</a:t>
            </a:r>
          </a:p>
          <a:p>
            <a:pPr marL="342900" lvl="0" indent="-342900" algn="l">
              <a:lnSpc>
                <a:spcPct val="115000"/>
              </a:lnSpc>
              <a:spcAft>
                <a:spcPts val="1600"/>
              </a:spcAft>
              <a:buAutoNum type="arabicPeriod"/>
            </a:pP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Dise</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ñ</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ar videojuegos educativos basados en acontecimientos, personajes y sitios emblem</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á</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ticos de la historia de Nicaragua.</a:t>
            </a:r>
          </a:p>
          <a:p>
            <a:pPr marL="342900" lvl="0" indent="-342900" algn="l">
              <a:lnSpc>
                <a:spcPct val="115000"/>
              </a:lnSpc>
              <a:spcAft>
                <a:spcPts val="1600"/>
              </a:spcAft>
              <a:buAutoNum type="arabicPeriod"/>
            </a:pP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Fomentar el inter</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é</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s de los estudiantes por el estudio de la historia nacional a trav</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é</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s de experiencias de aprendizaje l</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ú</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dicas e interactivas.</a:t>
            </a:r>
          </a:p>
          <a:p>
            <a:pPr marL="342900" lvl="0" indent="-342900" algn="l">
              <a:lnSpc>
                <a:spcPct val="115000"/>
              </a:lnSpc>
              <a:spcAft>
                <a:spcPts val="1600"/>
              </a:spcAft>
              <a:buAutoNum type="arabicPeriod"/>
            </a:pP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Integrar recursos tecnol</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ó</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gicos innovadores para optimizar el proceso de ense</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ñ</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anza y aprendizaje.</a:t>
            </a:r>
          </a:p>
          <a:p>
            <a:pPr marL="342900" lvl="0" indent="-342900" algn="l">
              <a:lnSpc>
                <a:spcPct val="115000"/>
              </a:lnSpc>
              <a:spcAft>
                <a:spcPts val="1600"/>
              </a:spcAft>
              <a:buAutoNum type="arabicPeriod"/>
            </a:pP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Evaluar el impacto de la metodolog</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í</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a l</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ú</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dica en la comprensi</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ó</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n hist</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ó</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rica de los estudiantes, transformando la educaci</a:t>
            </a:r>
            <a:r>
              <a:rPr lang="en-US" altLang="en-U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ó</a:t>
            </a:r>
            <a:r>
              <a:rPr lang="en-US" altLang="es-ES" sz="16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rPr>
              <a:t>n tradicional en una experiencia participativa.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329984"/>
          </a:xfrm>
          <a:prstGeom prst="rect">
            <a:avLst/>
          </a:prstGeom>
          <a:solidFill>
            <a:srgbClr val="255683"/>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329984"/>
            <a:ext cx="356591"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807310" y="329984"/>
            <a:ext cx="384689"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139578" y="3980074"/>
            <a:ext cx="3667731" cy="2335513"/>
          </a:xfrm>
          <a:prstGeom prst="rect">
            <a:avLst/>
          </a:prstGeom>
        </p:spPr>
      </p:pic>
      <p:sp>
        <p:nvSpPr>
          <p:cNvPr id="13" name="Rectángulo 12"/>
          <p:cNvSpPr/>
          <p:nvPr/>
        </p:nvSpPr>
        <p:spPr>
          <a:xfrm flipH="1">
            <a:off x="1053398" y="963565"/>
            <a:ext cx="45719" cy="4761541"/>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p:cNvSpPr/>
          <p:nvPr/>
        </p:nvSpPr>
        <p:spPr>
          <a:xfrm rot="5400000">
            <a:off x="2481568" y="-1262192"/>
            <a:ext cx="45719" cy="369496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p:cNvSpPr/>
          <p:nvPr/>
        </p:nvSpPr>
        <p:spPr>
          <a:xfrm rot="5400000">
            <a:off x="4380453" y="2365867"/>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7" name="Rectángulo 16"/>
          <p:cNvSpPr/>
          <p:nvPr/>
        </p:nvSpPr>
        <p:spPr>
          <a:xfrm rot="5400000">
            <a:off x="3525421" y="-838355"/>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p:cNvSpPr/>
          <p:nvPr/>
        </p:nvSpPr>
        <p:spPr>
          <a:xfrm rot="5400000">
            <a:off x="9907559" y="-1091732"/>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p:cNvSpPr/>
          <p:nvPr/>
        </p:nvSpPr>
        <p:spPr>
          <a:xfrm flipH="1">
            <a:off x="495477" y="48103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p:cNvSpPr/>
          <p:nvPr/>
        </p:nvSpPr>
        <p:spPr>
          <a:xfrm rot="5400000">
            <a:off x="1324474" y="5158028"/>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5" name="Rectángulo 24"/>
          <p:cNvSpPr/>
          <p:nvPr/>
        </p:nvSpPr>
        <p:spPr>
          <a:xfrm flipH="1">
            <a:off x="756607" y="5109059"/>
            <a:ext cx="45719" cy="113152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p:cNvSpPr/>
          <p:nvPr/>
        </p:nvSpPr>
        <p:spPr>
          <a:xfrm rot="5400000" flipH="1">
            <a:off x="1378446" y="5572058"/>
            <a:ext cx="45719" cy="129190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p:cNvSpPr/>
          <p:nvPr/>
        </p:nvSpPr>
        <p:spPr>
          <a:xfrm rot="16200000">
            <a:off x="9667686" y="-1275454"/>
            <a:ext cx="45719" cy="3931514"/>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p:cNvSpPr txBox="1"/>
          <p:nvPr/>
        </p:nvSpPr>
        <p:spPr>
          <a:xfrm>
            <a:off x="2747830" y="1415097"/>
            <a:ext cx="10265620" cy="584775"/>
          </a:xfrm>
          <a:prstGeom prst="rect">
            <a:avLst/>
          </a:prstGeom>
          <a:noFill/>
        </p:spPr>
        <p:txBody>
          <a:bodyPr wrap="square" rtlCol="0">
            <a:spAutoFit/>
          </a:bodyPr>
          <a:lstStyle/>
          <a:p>
            <a:r>
              <a:rPr lang="es-NI" sz="3200" b="1" dirty="0">
                <a:solidFill>
                  <a:srgbClr val="2B5E8D"/>
                </a:solidFill>
                <a:latin typeface="Times New Roman" panose="02020603050405020304" pitchFamily="18" charset="0"/>
                <a:cs typeface="Times New Roman" panose="02020603050405020304" pitchFamily="18" charset="0"/>
              </a:rPr>
              <a:t>Misión</a:t>
            </a:r>
          </a:p>
        </p:txBody>
      </p:sp>
      <p:sp>
        <p:nvSpPr>
          <p:cNvPr id="3" name="CuadroTexto 2"/>
          <p:cNvSpPr txBox="1"/>
          <p:nvPr/>
        </p:nvSpPr>
        <p:spPr>
          <a:xfrm>
            <a:off x="8345860" y="1301603"/>
            <a:ext cx="2979788" cy="584775"/>
          </a:xfrm>
          <a:prstGeom prst="rect">
            <a:avLst/>
          </a:prstGeom>
          <a:noFill/>
        </p:spPr>
        <p:txBody>
          <a:bodyPr wrap="square" rtlCol="0">
            <a:spAutoFit/>
          </a:bodyPr>
          <a:lstStyle/>
          <a:p>
            <a:r>
              <a:rPr lang="es-NI" sz="3200" b="1" dirty="0">
                <a:solidFill>
                  <a:srgbClr val="C39E51"/>
                </a:solidFill>
                <a:latin typeface="Times New Roman" panose="02020603050405020304" pitchFamily="18" charset="0"/>
                <a:cs typeface="Times New Roman" panose="02020603050405020304" pitchFamily="18" charset="0"/>
              </a:rPr>
              <a:t>Visión</a:t>
            </a:r>
          </a:p>
        </p:txBody>
      </p:sp>
      <p:sp>
        <p:nvSpPr>
          <p:cNvPr id="29" name="Google Shape;137;p28"/>
          <p:cNvSpPr txBox="1"/>
          <p:nvPr/>
        </p:nvSpPr>
        <p:spPr>
          <a:xfrm>
            <a:off x="1108253" y="2165509"/>
            <a:ext cx="4707438" cy="2320571"/>
          </a:xfrm>
          <a:prstGeom prst="rect">
            <a:avLst/>
          </a:prstGeom>
          <a:noFill/>
          <a:ln>
            <a:noFill/>
          </a:ln>
        </p:spPr>
        <p:txBody>
          <a:bodyPr spcFirstLastPara="1" wrap="square" lIns="91425" tIns="91425" rIns="91425" bIns="91425" anchor="t" anchorCtr="0">
            <a:noAutofit/>
          </a:bodyPr>
          <a:lstStyle/>
          <a:p>
            <a:pPr lvl="0" algn="ctr">
              <a:lnSpc>
                <a:spcPct val="115000"/>
              </a:lnSpc>
              <a:spcAft>
                <a:spcPts val="1600"/>
              </a:spcAft>
            </a:pPr>
            <a:r>
              <a:rPr lang="es-NI" sz="2000" dirty="0">
                <a:latin typeface="Times New Roman" panose="02020603050405020304" pitchFamily="18" charset="0"/>
                <a:cs typeface="Times New Roman" panose="02020603050405020304" pitchFamily="18" charset="0"/>
              </a:rPr>
              <a:t>Crear y comercializar videojuegos educativos interactivos e innovadores sobre la historia de Nicaragua, facilitando herramientas pedagógicas accesibles y de alta calidad que enriquezcan el aprendizaje de los estudiantes en las escuelas públicas de todo el país</a:t>
            </a:r>
            <a:endParaRPr sz="2000"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endParaRPr>
          </a:p>
        </p:txBody>
      </p:sp>
      <p:sp>
        <p:nvSpPr>
          <p:cNvPr id="30" name="Google Shape;145;p28"/>
          <p:cNvSpPr txBox="1"/>
          <p:nvPr/>
        </p:nvSpPr>
        <p:spPr>
          <a:xfrm>
            <a:off x="6532571" y="2054744"/>
            <a:ext cx="4647544" cy="1915909"/>
          </a:xfrm>
          <a:prstGeom prst="rect">
            <a:avLst/>
          </a:prstGeom>
          <a:noFill/>
          <a:ln>
            <a:noFill/>
          </a:ln>
        </p:spPr>
        <p:txBody>
          <a:bodyPr spcFirstLastPara="1" wrap="square" lIns="91425" tIns="91425" rIns="91425" bIns="91425" anchor="t" anchorCtr="0">
            <a:noAutofit/>
          </a:bodyPr>
          <a:lstStyle/>
          <a:p>
            <a:pPr lvl="0" algn="ctr">
              <a:lnSpc>
                <a:spcPct val="115000"/>
              </a:lnSpc>
              <a:spcAft>
                <a:spcPts val="1600"/>
              </a:spcAft>
            </a:pPr>
            <a:r>
              <a:rPr lang="es-NI" sz="2000" dirty="0">
                <a:latin typeface="Times New Roman" panose="02020603050405020304" pitchFamily="18" charset="0"/>
                <a:cs typeface="Times New Roman" panose="02020603050405020304" pitchFamily="18" charset="0"/>
              </a:rPr>
              <a:t>Ser la empresa líder y referente en el desarrollo de tecnología educativa en Nicaragua, transformando la enseñanza de la historia nacional a través de experiencias digitales inmersivas que inspiren a las nuevas generaciones en todas las escuelas públicas del territorio</a:t>
            </a:r>
            <a:endParaRPr sz="2000" b="1" dirty="0">
              <a:solidFill>
                <a:schemeClr val="dk1"/>
              </a:solidFill>
              <a:latin typeface="Times New Roman" panose="02020603050405020304" pitchFamily="18" charset="0"/>
              <a:ea typeface="Space Mono" panose="02010509030202000204"/>
              <a:cs typeface="Times New Roman" panose="02020603050405020304" pitchFamily="18" charset="0"/>
              <a:sym typeface="Space Mono" panose="0201050903020200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329984"/>
          </a:xfrm>
          <a:prstGeom prst="rect">
            <a:avLst/>
          </a:prstGeom>
          <a:solidFill>
            <a:srgbClr val="255683"/>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329984"/>
            <a:ext cx="356591"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807310" y="329984"/>
            <a:ext cx="384689"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139578" y="3980074"/>
            <a:ext cx="3667731" cy="2335513"/>
          </a:xfrm>
          <a:prstGeom prst="rect">
            <a:avLst/>
          </a:prstGeom>
        </p:spPr>
      </p:pic>
      <p:sp>
        <p:nvSpPr>
          <p:cNvPr id="13" name="Rectángulo 12"/>
          <p:cNvSpPr/>
          <p:nvPr/>
        </p:nvSpPr>
        <p:spPr>
          <a:xfrm flipH="1">
            <a:off x="1053398" y="963565"/>
            <a:ext cx="45719" cy="4761541"/>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p:cNvSpPr/>
          <p:nvPr/>
        </p:nvSpPr>
        <p:spPr>
          <a:xfrm rot="5400000">
            <a:off x="2045514" y="-826137"/>
            <a:ext cx="45719" cy="2822859"/>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p:cNvSpPr/>
          <p:nvPr/>
        </p:nvSpPr>
        <p:spPr>
          <a:xfrm rot="5400000">
            <a:off x="4380453" y="2365867"/>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7" name="Rectángulo 16"/>
          <p:cNvSpPr/>
          <p:nvPr/>
        </p:nvSpPr>
        <p:spPr>
          <a:xfrm rot="5400000">
            <a:off x="2396491" y="-824112"/>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p:cNvSpPr/>
          <p:nvPr/>
        </p:nvSpPr>
        <p:spPr>
          <a:xfrm rot="5400000">
            <a:off x="9907559" y="-1091732"/>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p:cNvSpPr/>
          <p:nvPr/>
        </p:nvSpPr>
        <p:spPr>
          <a:xfrm flipH="1">
            <a:off x="495477" y="48103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p:cNvSpPr/>
          <p:nvPr/>
        </p:nvSpPr>
        <p:spPr>
          <a:xfrm rot="5400000">
            <a:off x="1324474" y="5158028"/>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5" name="Rectángulo 24"/>
          <p:cNvSpPr/>
          <p:nvPr/>
        </p:nvSpPr>
        <p:spPr>
          <a:xfrm flipH="1">
            <a:off x="756607" y="5109059"/>
            <a:ext cx="45719" cy="113152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p:cNvSpPr/>
          <p:nvPr/>
        </p:nvSpPr>
        <p:spPr>
          <a:xfrm rot="5400000" flipH="1">
            <a:off x="1378446" y="5572058"/>
            <a:ext cx="45719" cy="129190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p:cNvSpPr/>
          <p:nvPr/>
        </p:nvSpPr>
        <p:spPr>
          <a:xfrm rot="16200000">
            <a:off x="9667686" y="-1275454"/>
            <a:ext cx="45719" cy="3931514"/>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p:cNvSpPr txBox="1"/>
          <p:nvPr/>
        </p:nvSpPr>
        <p:spPr>
          <a:xfrm>
            <a:off x="5230755" y="313756"/>
            <a:ext cx="1684998" cy="646331"/>
          </a:xfrm>
          <a:prstGeom prst="rect">
            <a:avLst/>
          </a:prstGeom>
          <a:noFill/>
        </p:spPr>
        <p:txBody>
          <a:bodyPr wrap="square" rtlCol="0">
            <a:spAutoFit/>
          </a:bodyPr>
          <a:lstStyle/>
          <a:p>
            <a:r>
              <a:rPr lang="es-NI" sz="3600" b="1" dirty="0">
                <a:solidFill>
                  <a:srgbClr val="255683"/>
                </a:solidFill>
                <a:latin typeface="Times New Roman" panose="02020603050405020304" pitchFamily="18" charset="0"/>
                <a:cs typeface="Times New Roman" panose="02020603050405020304" pitchFamily="18" charset="0"/>
              </a:rPr>
              <a:t>Valores</a:t>
            </a:r>
          </a:p>
        </p:txBody>
      </p:sp>
      <p:sp>
        <p:nvSpPr>
          <p:cNvPr id="29" name="Google Shape;176;p29"/>
          <p:cNvSpPr txBox="1"/>
          <p:nvPr/>
        </p:nvSpPr>
        <p:spPr>
          <a:xfrm>
            <a:off x="1256589" y="1252732"/>
            <a:ext cx="1203806" cy="78075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GB" sz="6600" dirty="0"/>
              <a:t>1</a:t>
            </a:r>
          </a:p>
        </p:txBody>
      </p:sp>
      <p:sp>
        <p:nvSpPr>
          <p:cNvPr id="30" name="Google Shape;177;p29"/>
          <p:cNvSpPr txBox="1"/>
          <p:nvPr/>
        </p:nvSpPr>
        <p:spPr>
          <a:xfrm>
            <a:off x="1308957" y="2986522"/>
            <a:ext cx="1203806" cy="78075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GB" sz="6600"/>
              <a:t>3</a:t>
            </a:r>
            <a:endParaRPr lang="en-GB" sz="6600" dirty="0"/>
          </a:p>
        </p:txBody>
      </p:sp>
      <p:sp>
        <p:nvSpPr>
          <p:cNvPr id="31" name="Google Shape;178;p29"/>
          <p:cNvSpPr txBox="1"/>
          <p:nvPr/>
        </p:nvSpPr>
        <p:spPr>
          <a:xfrm>
            <a:off x="1277953" y="2060229"/>
            <a:ext cx="1203806" cy="78075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GB" sz="6600" dirty="0"/>
              <a:t>2</a:t>
            </a:r>
          </a:p>
        </p:txBody>
      </p:sp>
      <p:sp>
        <p:nvSpPr>
          <p:cNvPr id="32" name="Google Shape;179;p29"/>
          <p:cNvSpPr txBox="1"/>
          <p:nvPr/>
        </p:nvSpPr>
        <p:spPr>
          <a:xfrm>
            <a:off x="1239083" y="3895408"/>
            <a:ext cx="1203806" cy="78075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GB" sz="6600" dirty="0"/>
              <a:t>4</a:t>
            </a:r>
          </a:p>
        </p:txBody>
      </p:sp>
      <p:sp>
        <p:nvSpPr>
          <p:cNvPr id="33" name="Google Shape;180;p29"/>
          <p:cNvSpPr txBox="1">
            <a:spLocks noGrp="1"/>
          </p:cNvSpPr>
          <p:nvPr>
            <p:ph type="subTitle" idx="1"/>
          </p:nvPr>
        </p:nvSpPr>
        <p:spPr>
          <a:xfrm>
            <a:off x="2068373" y="908680"/>
            <a:ext cx="8734997" cy="142895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ES" sz="1800" b="1" dirty="0"/>
              <a:t>Identidad y Patriotismo: </a:t>
            </a:r>
            <a:r>
              <a:rPr lang="es-ES" sz="1800" dirty="0"/>
              <a:t>Fomentamos el amor, el orgullo y el respeto por las raíces, la cultura y la historia de Nicaragua en cada uno de nuestros productos.</a:t>
            </a:r>
            <a:endParaRPr sz="1800" dirty="0"/>
          </a:p>
        </p:txBody>
      </p:sp>
      <p:sp>
        <p:nvSpPr>
          <p:cNvPr id="34" name="Google Shape;181;p29"/>
          <p:cNvSpPr txBox="1"/>
          <p:nvPr/>
        </p:nvSpPr>
        <p:spPr>
          <a:xfrm>
            <a:off x="2259948" y="2596248"/>
            <a:ext cx="8549046" cy="1528578"/>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s-ES" sz="1800" b="1" dirty="0"/>
              <a:t>Accesibilidad y Compromiso Social:</a:t>
            </a:r>
            <a:r>
              <a:rPr lang="es-ES" sz="1800" dirty="0"/>
              <a:t> Creemos firmemente en la igualdad de oportunidades, por lo que orientamos nuestros esfuerzos a impactar positivamente y de manera inclusiva a las escuelas públicas del país.</a:t>
            </a:r>
          </a:p>
        </p:txBody>
      </p:sp>
      <p:sp>
        <p:nvSpPr>
          <p:cNvPr id="35" name="Google Shape;182;p29"/>
          <p:cNvSpPr txBox="1"/>
          <p:nvPr/>
        </p:nvSpPr>
        <p:spPr>
          <a:xfrm>
            <a:off x="2224492" y="1648253"/>
            <a:ext cx="8549046" cy="1428958"/>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s-ES" sz="1800" b="1" dirty="0"/>
              <a:t>Innovación Educativa:</a:t>
            </a:r>
            <a:r>
              <a:rPr lang="es-ES" sz="1800" dirty="0"/>
              <a:t> Buscamos constantemente nuevas formas de integrar la tecnología y el juego para transformar y dinamizar el proceso de aprendizaje tradicional.</a:t>
            </a:r>
          </a:p>
        </p:txBody>
      </p:sp>
      <p:sp>
        <p:nvSpPr>
          <p:cNvPr id="36" name="Google Shape;183;p29"/>
          <p:cNvSpPr txBox="1"/>
          <p:nvPr/>
        </p:nvSpPr>
        <p:spPr>
          <a:xfrm>
            <a:off x="2259948" y="3719656"/>
            <a:ext cx="8549046" cy="1089449"/>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s-ES" sz="1800" b="1" dirty="0"/>
              <a:t>Calidad y Rigor Histórico: </a:t>
            </a:r>
            <a:r>
              <a:rPr lang="es-ES" sz="1800" dirty="0"/>
              <a:t>Garantizamos que nuestros videojuegos ofrezcan contenidos veraces, rigurosos y respaldados por la investigación histórica, sin perder el factor de entretenimiento.</a:t>
            </a:r>
          </a:p>
        </p:txBody>
      </p:sp>
      <p:sp>
        <p:nvSpPr>
          <p:cNvPr id="37" name="Google Shape;184;p29"/>
          <p:cNvSpPr txBox="1"/>
          <p:nvPr/>
        </p:nvSpPr>
        <p:spPr>
          <a:xfrm>
            <a:off x="1306643" y="4880203"/>
            <a:ext cx="1203806" cy="78075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GB" sz="6600" dirty="0"/>
              <a:t>5</a:t>
            </a:r>
          </a:p>
        </p:txBody>
      </p:sp>
      <p:sp>
        <p:nvSpPr>
          <p:cNvPr id="38" name="Google Shape;188;p29"/>
          <p:cNvSpPr txBox="1"/>
          <p:nvPr/>
        </p:nvSpPr>
        <p:spPr>
          <a:xfrm>
            <a:off x="2224492" y="4970202"/>
            <a:ext cx="8549046" cy="566788"/>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pPr>
            <a:r>
              <a:rPr lang="es-ES" sz="1800" b="1" dirty="0"/>
              <a:t>Colaboración y Empatía:</a:t>
            </a:r>
            <a:r>
              <a:rPr lang="es-ES" sz="1800" dirty="0"/>
              <a:t> Trabajamos de la mano con la comunidad educativa (docentes, estudiantes y autoridades) para entender sus necesidades reales y crear soluciones verdaderamente útiles</a:t>
            </a:r>
            <a:endParaRPr lang="es-E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329984"/>
          </a:xfrm>
          <a:prstGeom prst="rect">
            <a:avLst/>
          </a:prstGeom>
          <a:solidFill>
            <a:srgbClr val="255683"/>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329984"/>
            <a:ext cx="356591"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807310" y="329984"/>
            <a:ext cx="384689"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139578" y="3980074"/>
            <a:ext cx="3667731" cy="2335513"/>
          </a:xfrm>
          <a:prstGeom prst="rect">
            <a:avLst/>
          </a:prstGeom>
        </p:spPr>
      </p:pic>
      <p:sp>
        <p:nvSpPr>
          <p:cNvPr id="13" name="Rectángulo 12"/>
          <p:cNvSpPr/>
          <p:nvPr/>
        </p:nvSpPr>
        <p:spPr>
          <a:xfrm flipH="1">
            <a:off x="1053398" y="963565"/>
            <a:ext cx="45719" cy="4761541"/>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p:cNvSpPr/>
          <p:nvPr/>
        </p:nvSpPr>
        <p:spPr>
          <a:xfrm rot="5400000">
            <a:off x="1656521" y="-453126"/>
            <a:ext cx="61702" cy="2060856"/>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p:cNvSpPr/>
          <p:nvPr/>
        </p:nvSpPr>
        <p:spPr>
          <a:xfrm rot="5400000">
            <a:off x="4380453" y="2365867"/>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7" name="Rectángulo 16"/>
          <p:cNvSpPr/>
          <p:nvPr/>
        </p:nvSpPr>
        <p:spPr>
          <a:xfrm rot="5400000">
            <a:off x="1960546" y="-376976"/>
            <a:ext cx="72527" cy="2330980"/>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p:cNvSpPr/>
          <p:nvPr/>
        </p:nvSpPr>
        <p:spPr>
          <a:xfrm rot="5400000">
            <a:off x="10303234" y="-696056"/>
            <a:ext cx="45719" cy="241498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p:cNvSpPr/>
          <p:nvPr/>
        </p:nvSpPr>
        <p:spPr>
          <a:xfrm flipH="1">
            <a:off x="495477" y="48103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p:cNvSpPr/>
          <p:nvPr/>
        </p:nvSpPr>
        <p:spPr>
          <a:xfrm rot="5400000">
            <a:off x="1324474" y="5158028"/>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5" name="Rectángulo 24"/>
          <p:cNvSpPr/>
          <p:nvPr/>
        </p:nvSpPr>
        <p:spPr>
          <a:xfrm flipH="1">
            <a:off x="756607" y="5109059"/>
            <a:ext cx="45719" cy="113152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p:cNvSpPr/>
          <p:nvPr/>
        </p:nvSpPr>
        <p:spPr>
          <a:xfrm rot="5400000" flipH="1">
            <a:off x="1378446" y="5572058"/>
            <a:ext cx="45719" cy="129190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p:cNvSpPr/>
          <p:nvPr/>
        </p:nvSpPr>
        <p:spPr>
          <a:xfrm rot="16200000">
            <a:off x="10116941" y="-826199"/>
            <a:ext cx="45719" cy="303300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p:cNvSpPr txBox="1"/>
          <p:nvPr/>
        </p:nvSpPr>
        <p:spPr>
          <a:xfrm>
            <a:off x="3442558" y="336616"/>
            <a:ext cx="4991100" cy="646331"/>
          </a:xfrm>
          <a:prstGeom prst="rect">
            <a:avLst/>
          </a:prstGeom>
          <a:noFill/>
        </p:spPr>
        <p:txBody>
          <a:bodyPr wrap="square" rtlCol="0">
            <a:spAutoFit/>
          </a:bodyPr>
          <a:lstStyle/>
          <a:p>
            <a:pPr algn="ctr"/>
            <a:r>
              <a:rPr lang="es-NI" sz="3600" b="1" dirty="0">
                <a:solidFill>
                  <a:srgbClr val="255683"/>
                </a:solidFill>
                <a:latin typeface="Times New Roman" panose="02020603050405020304" pitchFamily="18" charset="0"/>
                <a:cs typeface="Times New Roman" panose="02020603050405020304" pitchFamily="18" charset="0"/>
              </a:rPr>
              <a:t>Análisis FODA</a:t>
            </a:r>
          </a:p>
        </p:txBody>
      </p:sp>
      <p:sp>
        <p:nvSpPr>
          <p:cNvPr id="3" name="Rectángulo 2"/>
          <p:cNvSpPr/>
          <p:nvPr/>
        </p:nvSpPr>
        <p:spPr>
          <a:xfrm>
            <a:off x="1350189" y="1305342"/>
            <a:ext cx="10001894" cy="4524315"/>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Fortalezas </a:t>
            </a:r>
            <a:r>
              <a:rPr lang="en-US" sz="2400" b="1" dirty="0" err="1">
                <a:latin typeface="Times New Roman" panose="02020603050405020304" pitchFamily="18" charset="0"/>
                <a:cs typeface="Times New Roman" panose="02020603050405020304" pitchFamily="18" charset="0"/>
              </a:rPr>
              <a:t>internas</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Mision</a:t>
            </a:r>
            <a:r>
              <a:rPr lang="en-US" sz="2400" b="1" dirty="0">
                <a:latin typeface="Times New Roman" panose="02020603050405020304" pitchFamily="18" charset="0"/>
                <a:cs typeface="Times New Roman" panose="02020603050405020304" pitchFamily="18" charset="0"/>
              </a:rPr>
              <a:t> Clara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videojuegos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educativos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sobre</a:t>
            </a:r>
            <a:r>
              <a:rPr lang="en-US" sz="2400" dirty="0">
                <a:latin typeface="Times New Roman" panose="02020603050405020304" pitchFamily="18" charset="0"/>
                <a:cs typeface="Times New Roman" panose="02020603050405020304" pitchFamily="18" charset="0"/>
              </a:rPr>
              <a:t> la </a:t>
            </a:r>
            <a:r>
              <a:rPr lang="en-US" sz="2400" dirty="0" err="1">
                <a:latin typeface="Times New Roman" panose="02020603050405020304" pitchFamily="18" charset="0"/>
                <a:cs typeface="Times New Roman" panose="02020603050405020304" pitchFamily="18" charset="0"/>
              </a:rPr>
              <a:t>historia</a:t>
            </a:r>
            <a:r>
              <a:rPr lang="en-US" sz="2400" dirty="0">
                <a:latin typeface="Times New Roman" panose="02020603050405020304" pitchFamily="18" charset="0"/>
                <a:cs typeface="Times New Roman" panose="02020603050405020304" pitchFamily="18" charset="0"/>
              </a:rPr>
              <a:t> de Nicaragua.</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Vision </a:t>
            </a:r>
            <a:r>
              <a:rPr lang="en-US" sz="2400" b="1" dirty="0" err="1">
                <a:latin typeface="Times New Roman" panose="02020603050405020304" pitchFamily="18" charset="0"/>
                <a:cs typeface="Times New Roman" panose="02020603050405020304" pitchFamily="18" charset="0"/>
              </a:rPr>
              <a:t>ambisiosa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referente</a:t>
            </a:r>
            <a:r>
              <a:rPr lang="en-US" sz="2400" dirty="0">
                <a:latin typeface="Times New Roman" panose="02020603050405020304" pitchFamily="18" charset="0"/>
                <a:cs typeface="Times New Roman" panose="02020603050405020304" pitchFamily="18" charset="0"/>
              </a:rPr>
              <a:t> Nacional </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tecnologia</a:t>
            </a:r>
            <a:r>
              <a:rPr lang="en-US" sz="2400" dirty="0">
                <a:latin typeface="Times New Roman" panose="02020603050405020304" pitchFamily="18" charset="0"/>
                <a:cs typeface="Times New Roman" panose="02020603050405020304" pitchFamily="18" charset="0"/>
              </a:rPr>
              <a:t> educative.</a:t>
            </a:r>
          </a:p>
          <a:p>
            <a:pPr>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Valores</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solidos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identidad,patriotism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inovacion</a:t>
            </a:r>
            <a:r>
              <a:rPr lang="en-US" sz="2400" dirty="0">
                <a:latin typeface="Times New Roman" panose="02020603050405020304" pitchFamily="18" charset="0"/>
                <a:cs typeface="Times New Roman" panose="02020603050405020304" pitchFamily="18" charset="0"/>
              </a:rPr>
              <a:t> , rigor </a:t>
            </a:r>
            <a:r>
              <a:rPr lang="en-US" sz="2400" dirty="0" err="1">
                <a:latin typeface="Times New Roman" panose="02020603050405020304" pitchFamily="18" charset="0"/>
                <a:cs typeface="Times New Roman" panose="02020603050405020304" pitchFamily="18" charset="0"/>
              </a:rPr>
              <a:t>historico</a:t>
            </a:r>
            <a:r>
              <a:rPr lang="en-US" sz="2400" dirty="0">
                <a:latin typeface="Times New Roman" panose="02020603050405020304" pitchFamily="18" charset="0"/>
                <a:cs typeface="Times New Roman" panose="02020603050405020304" pitchFamily="18" charset="0"/>
              </a:rPr>
              <a:t> y </a:t>
            </a:r>
            <a:r>
              <a:rPr lang="en-US" sz="2400" dirty="0" err="1">
                <a:latin typeface="Times New Roman" panose="02020603050405020304" pitchFamily="18" charset="0"/>
                <a:cs typeface="Times New Roman" panose="02020603050405020304" pitchFamily="18" charset="0"/>
              </a:rPr>
              <a:t>compromiso</a:t>
            </a:r>
            <a:r>
              <a:rPr lang="en-US" sz="2400" dirty="0">
                <a:latin typeface="Times New Roman" panose="02020603050405020304" pitchFamily="18" charset="0"/>
                <a:cs typeface="Times New Roman" panose="02020603050405020304" pitchFamily="18" charset="0"/>
              </a:rPr>
              <a:t> social</a:t>
            </a:r>
          </a:p>
          <a:p>
            <a:pPr marL="152400" indent="0"/>
            <a:endParaRPr lang="en-US" sz="2400" dirty="0">
              <a:latin typeface="Times New Roman" panose="02020603050405020304" pitchFamily="18" charset="0"/>
              <a:cs typeface="Times New Roman" panose="02020603050405020304" pitchFamily="18" charset="0"/>
            </a:endParaRPr>
          </a:p>
          <a:p>
            <a:pPr marL="152400" indent="0"/>
            <a:r>
              <a:rPr lang="en-US" sz="2400" b="1" dirty="0" err="1">
                <a:latin typeface="Times New Roman" panose="02020603050405020304" pitchFamily="18" charset="0"/>
                <a:cs typeface="Times New Roman" panose="02020603050405020304" pitchFamily="18" charset="0"/>
              </a:rPr>
              <a:t>Debilidades</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internas</a:t>
            </a:r>
            <a:endParaRPr lang="en-US" sz="2400" b="1" dirty="0">
              <a:latin typeface="Times New Roman" panose="02020603050405020304" pitchFamily="18" charset="0"/>
              <a:cs typeface="Times New Roman" panose="02020603050405020304" pitchFamily="18" charset="0"/>
            </a:endParaRPr>
          </a:p>
          <a:p>
            <a:pPr marL="152400" indent="0"/>
            <a:endParaRPr lang="en-US" sz="2400" dirty="0">
              <a:latin typeface="Times New Roman" panose="02020603050405020304" pitchFamily="18" charset="0"/>
              <a:cs typeface="Times New Roman" panose="02020603050405020304" pitchFamily="18" charset="0"/>
            </a:endParaRP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Empresa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etapa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inicial</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recursos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limitados</a:t>
            </a:r>
            <a:r>
              <a:rPr lang="en-US" sz="2400" dirty="0">
                <a:latin typeface="Times New Roman" panose="02020603050405020304" pitchFamily="18" charset="0"/>
                <a:cs typeface="Times New Roman" panose="02020603050405020304" pitchFamily="18" charset="0"/>
              </a:rPr>
              <a:t> </a:t>
            </a: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Dependencia</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aceptacion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institucional</a:t>
            </a:r>
            <a:endParaRPr lang="en-US" sz="2400" dirty="0">
              <a:latin typeface="Times New Roman" panose="02020603050405020304" pitchFamily="18" charset="0"/>
              <a:cs typeface="Times New Roman" panose="02020603050405020304" pitchFamily="18" charset="0"/>
            </a:endParaRP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Necesidad</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validacion</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contenido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historico</a:t>
            </a:r>
            <a:r>
              <a:rPr lang="en-US" sz="2400" dirty="0">
                <a:latin typeface="Times New Roman" panose="02020603050405020304" pitchFamily="18" charset="0"/>
                <a:cs typeface="Times New Roman" panose="02020603050405020304" pitchFamily="18" charset="0"/>
              </a:rPr>
              <a:t> para </a:t>
            </a:r>
            <a:r>
              <a:rPr lang="en-US" sz="2400" dirty="0" err="1">
                <a:latin typeface="Times New Roman" panose="02020603050405020304" pitchFamily="18" charset="0"/>
                <a:cs typeface="Times New Roman" panose="02020603050405020304" pitchFamily="18" charset="0"/>
              </a:rPr>
              <a:t>evitar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errores</a:t>
            </a:r>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329984"/>
          </a:xfrm>
          <a:prstGeom prst="rect">
            <a:avLst/>
          </a:prstGeom>
          <a:solidFill>
            <a:srgbClr val="255683"/>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329984"/>
            <a:ext cx="356591"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807310" y="329984"/>
            <a:ext cx="384689" cy="6091918"/>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8139578" y="3980074"/>
            <a:ext cx="3667731" cy="2335513"/>
          </a:xfrm>
          <a:prstGeom prst="rect">
            <a:avLst/>
          </a:prstGeom>
        </p:spPr>
      </p:pic>
      <p:sp>
        <p:nvSpPr>
          <p:cNvPr id="13" name="Rectángulo 12"/>
          <p:cNvSpPr/>
          <p:nvPr/>
        </p:nvSpPr>
        <p:spPr>
          <a:xfrm flipH="1">
            <a:off x="1053398" y="963565"/>
            <a:ext cx="45719" cy="4761541"/>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4" name="Rectángulo 13"/>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14"/>
          <p:cNvSpPr/>
          <p:nvPr/>
        </p:nvSpPr>
        <p:spPr>
          <a:xfrm rot="5400000">
            <a:off x="1656521" y="-453126"/>
            <a:ext cx="61702" cy="2060856"/>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Rectángulo 15"/>
          <p:cNvSpPr/>
          <p:nvPr/>
        </p:nvSpPr>
        <p:spPr>
          <a:xfrm rot="5400000">
            <a:off x="4380453" y="2365867"/>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7" name="Rectángulo 16"/>
          <p:cNvSpPr/>
          <p:nvPr/>
        </p:nvSpPr>
        <p:spPr>
          <a:xfrm rot="5400000">
            <a:off x="1960546" y="-376976"/>
            <a:ext cx="72527" cy="2330980"/>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9" name="Rectángulo 18"/>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Rectángulo 19"/>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1" name="Rectángulo 20"/>
          <p:cNvSpPr/>
          <p:nvPr/>
        </p:nvSpPr>
        <p:spPr>
          <a:xfrm rot="5400000">
            <a:off x="10303234" y="-696056"/>
            <a:ext cx="45719" cy="241498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Rectángulo 21"/>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p:cNvSpPr/>
          <p:nvPr/>
        </p:nvSpPr>
        <p:spPr>
          <a:xfrm flipH="1">
            <a:off x="495477" y="48103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Rectángulo 23"/>
          <p:cNvSpPr/>
          <p:nvPr/>
        </p:nvSpPr>
        <p:spPr>
          <a:xfrm rot="5400000">
            <a:off x="1324474" y="5158028"/>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5" name="Rectángulo 24"/>
          <p:cNvSpPr/>
          <p:nvPr/>
        </p:nvSpPr>
        <p:spPr>
          <a:xfrm flipH="1">
            <a:off x="756607" y="5109059"/>
            <a:ext cx="45719" cy="113152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p:cNvSpPr/>
          <p:nvPr/>
        </p:nvSpPr>
        <p:spPr>
          <a:xfrm rot="5400000" flipH="1">
            <a:off x="1378446" y="5572058"/>
            <a:ext cx="45719" cy="129190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Rectángulo 27"/>
          <p:cNvSpPr/>
          <p:nvPr/>
        </p:nvSpPr>
        <p:spPr>
          <a:xfrm rot="16200000">
            <a:off x="10116941" y="-826199"/>
            <a:ext cx="45719" cy="303300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p:cNvSpPr txBox="1"/>
          <p:nvPr/>
        </p:nvSpPr>
        <p:spPr>
          <a:xfrm>
            <a:off x="3442558" y="336616"/>
            <a:ext cx="4991100" cy="646331"/>
          </a:xfrm>
          <a:prstGeom prst="rect">
            <a:avLst/>
          </a:prstGeom>
          <a:noFill/>
        </p:spPr>
        <p:txBody>
          <a:bodyPr wrap="square" rtlCol="0">
            <a:spAutoFit/>
          </a:bodyPr>
          <a:lstStyle/>
          <a:p>
            <a:pPr algn="ctr"/>
            <a:r>
              <a:rPr lang="es-NI" sz="3600" b="1" dirty="0">
                <a:solidFill>
                  <a:srgbClr val="255683"/>
                </a:solidFill>
                <a:latin typeface="Times New Roman" panose="02020603050405020304" pitchFamily="18" charset="0"/>
                <a:cs typeface="Times New Roman" panose="02020603050405020304" pitchFamily="18" charset="0"/>
              </a:rPr>
              <a:t>Análisis FODA</a:t>
            </a:r>
          </a:p>
        </p:txBody>
      </p:sp>
      <p:sp>
        <p:nvSpPr>
          <p:cNvPr id="4" name="Rectángulo 3"/>
          <p:cNvSpPr/>
          <p:nvPr/>
        </p:nvSpPr>
        <p:spPr>
          <a:xfrm>
            <a:off x="1220077" y="1443841"/>
            <a:ext cx="9980998" cy="3785652"/>
          </a:xfrm>
          <a:prstGeom prst="rect">
            <a:avLst/>
          </a:prstGeom>
        </p:spPr>
        <p:txBody>
          <a:bodyPr wrap="square">
            <a:spAutoFit/>
          </a:bodyPr>
          <a:lstStyle/>
          <a:p>
            <a:pPr marL="152400" indent="0"/>
            <a:r>
              <a:rPr lang="en-US" sz="2400" b="1" dirty="0" err="1">
                <a:latin typeface="Times New Roman" panose="02020603050405020304" pitchFamily="18" charset="0"/>
                <a:cs typeface="Times New Roman" panose="02020603050405020304" pitchFamily="18" charset="0"/>
              </a:rPr>
              <a:t>Oportunidades</a:t>
            </a:r>
            <a:r>
              <a:rPr lang="en-US" sz="2400" b="1" dirty="0">
                <a:latin typeface="Times New Roman" panose="02020603050405020304" pitchFamily="18" charset="0"/>
                <a:cs typeface="Times New Roman" panose="02020603050405020304" pitchFamily="18" charset="0"/>
              </a:rPr>
              <a:t> externa: </a:t>
            </a:r>
          </a:p>
          <a:p>
            <a:pPr marL="152400" indent="0"/>
            <a:endParaRPr lang="en-US" sz="2400" dirty="0">
              <a:latin typeface="Times New Roman" panose="02020603050405020304" pitchFamily="18" charset="0"/>
              <a:cs typeface="Times New Roman" panose="02020603050405020304" pitchFamily="18" charset="0"/>
            </a:endParaRP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Creciente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interes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 la </a:t>
            </a:r>
            <a:r>
              <a:rPr lang="en-US" sz="2400" dirty="0" err="1">
                <a:latin typeface="Times New Roman" panose="02020603050405020304" pitchFamily="18" charset="0"/>
                <a:cs typeface="Times New Roman" panose="02020603050405020304" pitchFamily="18" charset="0"/>
              </a:rPr>
              <a:t>digitalizacion</a:t>
            </a:r>
            <a:r>
              <a:rPr lang="en-US" sz="2400" dirty="0">
                <a:latin typeface="Times New Roman" panose="02020603050405020304" pitchFamily="18" charset="0"/>
                <a:cs typeface="Times New Roman" panose="02020603050405020304" pitchFamily="18" charset="0"/>
              </a:rPr>
              <a:t> de la </a:t>
            </a:r>
            <a:r>
              <a:rPr lang="en-US" sz="2400" dirty="0" err="1">
                <a:latin typeface="Times New Roman" panose="02020603050405020304" pitchFamily="18" charset="0"/>
                <a:cs typeface="Times New Roman" panose="02020603050405020304" pitchFamily="18" charset="0"/>
              </a:rPr>
              <a:t>educacion</a:t>
            </a:r>
            <a:r>
              <a:rPr lang="en-US" sz="2400" dirty="0">
                <a:latin typeface="Times New Roman" panose="02020603050405020304" pitchFamily="18" charset="0"/>
                <a:cs typeface="Times New Roman" panose="02020603050405020304" pitchFamily="18" charset="0"/>
              </a:rPr>
              <a:t> de Nicaragua. </a:t>
            </a: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Tendencia</a:t>
            </a:r>
            <a:r>
              <a:rPr lang="en-US" sz="2400" dirty="0">
                <a:latin typeface="Times New Roman" panose="02020603050405020304" pitchFamily="18" charset="0"/>
                <a:cs typeface="Times New Roman" panose="02020603050405020304" pitchFamily="18" charset="0"/>
              </a:rPr>
              <a:t> global </a:t>
            </a:r>
            <a:r>
              <a:rPr lang="en-US" sz="2400" dirty="0" err="1">
                <a:latin typeface="Times New Roman" panose="02020603050405020304" pitchFamily="18" charset="0"/>
                <a:cs typeface="Times New Roman" panose="02020603050405020304" pitchFamily="18" charset="0"/>
              </a:rPr>
              <a:t>hacia</a:t>
            </a:r>
            <a:r>
              <a:rPr lang="en-US" sz="2400" dirty="0">
                <a:latin typeface="Times New Roman" panose="02020603050405020304" pitchFamily="18" charset="0"/>
                <a:cs typeface="Times New Roman" panose="02020603050405020304" pitchFamily="18" charset="0"/>
              </a:rPr>
              <a:t> el </a:t>
            </a:r>
            <a:r>
              <a:rPr lang="en-US" sz="2400" dirty="0" err="1">
                <a:latin typeface="Times New Roman" panose="02020603050405020304" pitchFamily="18" charset="0"/>
                <a:cs typeface="Times New Roman" panose="02020603050405020304" pitchFamily="18" charset="0"/>
              </a:rPr>
              <a:t>uso</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videojuegos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como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herramientas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educativas</a:t>
            </a:r>
            <a:r>
              <a:rPr lang="en-US" sz="2400" dirty="0">
                <a:latin typeface="Times New Roman" panose="02020603050405020304" pitchFamily="18" charset="0"/>
                <a:cs typeface="Times New Roman" panose="02020603050405020304" pitchFamily="18" charset="0"/>
              </a:rPr>
              <a:t>. </a:t>
            </a: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Acceso</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financiamiento</a:t>
            </a:r>
            <a:r>
              <a:rPr lang="en-US" sz="2400" dirty="0">
                <a:latin typeface="Times New Roman" panose="02020603050405020304" pitchFamily="18" charset="0"/>
                <a:cs typeface="Times New Roman" panose="02020603050405020304" pitchFamily="18" charset="0"/>
              </a:rPr>
              <a:t> o </a:t>
            </a:r>
            <a:r>
              <a:rPr lang="en-US" sz="2400" dirty="0" err="1">
                <a:latin typeface="Times New Roman" panose="02020603050405020304" pitchFamily="18" charset="0"/>
                <a:cs typeface="Times New Roman" panose="02020603050405020304" pitchFamily="18" charset="0"/>
              </a:rPr>
              <a:t>programas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apoyo</a:t>
            </a:r>
            <a:r>
              <a:rPr lang="en-US" sz="2400" dirty="0">
                <a:latin typeface="Times New Roman" panose="02020603050405020304" pitchFamily="18" charset="0"/>
                <a:cs typeface="Times New Roman" panose="02020603050405020304" pitchFamily="18" charset="0"/>
              </a:rPr>
              <a:t> a startups </a:t>
            </a:r>
            <a:r>
              <a:rPr lang="en-US" sz="2400" dirty="0" err="1">
                <a:latin typeface="Times New Roman" panose="02020603050405020304" pitchFamily="18" charset="0"/>
                <a:cs typeface="Times New Roman" panose="02020603050405020304" pitchFamily="18" charset="0"/>
              </a:rPr>
              <a:t>tecnologias</a:t>
            </a:r>
            <a:r>
              <a:rPr lang="en-US" sz="2400" dirty="0">
                <a:latin typeface="Times New Roman" panose="02020603050405020304" pitchFamily="18" charset="0"/>
                <a:cs typeface="Times New Roman" panose="02020603050405020304" pitchFamily="18" charset="0"/>
              </a:rPr>
              <a:t>.</a:t>
            </a:r>
          </a:p>
          <a:p>
            <a:pPr marL="152400" indent="0"/>
            <a:endParaRPr lang="en-US" sz="2400" dirty="0">
              <a:latin typeface="Times New Roman" panose="02020603050405020304" pitchFamily="18" charset="0"/>
              <a:cs typeface="Times New Roman" panose="02020603050405020304" pitchFamily="18" charset="0"/>
            </a:endParaRPr>
          </a:p>
          <a:p>
            <a:pPr marL="152400" indent="0"/>
            <a:r>
              <a:rPr lang="en-US" sz="2400" b="1" dirty="0" err="1">
                <a:latin typeface="Times New Roman" panose="02020603050405020304" pitchFamily="18" charset="0"/>
                <a:cs typeface="Times New Roman" panose="02020603050405020304" pitchFamily="18" charset="0"/>
              </a:rPr>
              <a:t>Amenazas</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externas</a:t>
            </a:r>
            <a:endParaRPr lang="en-US" sz="2400" b="1" dirty="0">
              <a:latin typeface="Times New Roman" panose="02020603050405020304" pitchFamily="18" charset="0"/>
              <a:cs typeface="Times New Roman" panose="02020603050405020304" pitchFamily="18" charset="0"/>
            </a:endParaRP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Competencia</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plataformas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educativas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posicionadas</a:t>
            </a:r>
            <a:r>
              <a:rPr lang="en-US" sz="2400" dirty="0">
                <a:latin typeface="Times New Roman" panose="02020603050405020304" pitchFamily="18" charset="0"/>
                <a:cs typeface="Times New Roman" panose="02020603050405020304" pitchFamily="18" charset="0"/>
              </a:rPr>
              <a:t>.</a:t>
            </a: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Limitaciones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infraestructura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tecnologica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algunas</a:t>
            </a:r>
            <a:r>
              <a:rPr lang="en-US" sz="2400" dirty="0">
                <a:latin typeface="Times New Roman" panose="02020603050405020304" pitchFamily="18" charset="0"/>
                <a:cs typeface="Times New Roman" panose="02020603050405020304" pitchFamily="18" charset="0"/>
              </a:rPr>
              <a:t> escuela2s </a:t>
            </a:r>
            <a:r>
              <a:rPr lang="en-US" sz="2400" dirty="0" err="1">
                <a:latin typeface="Times New Roman" panose="02020603050405020304" pitchFamily="18" charset="0"/>
                <a:cs typeface="Times New Roman" panose="02020603050405020304" pitchFamily="18" charset="0"/>
              </a:rPr>
              <a:t>publicas</a:t>
            </a:r>
            <a:r>
              <a:rPr lang="en-US" sz="2400" dirty="0">
                <a:latin typeface="Times New Roman" panose="02020603050405020304" pitchFamily="18" charset="0"/>
                <a:cs typeface="Times New Roman" panose="02020603050405020304" pitchFamily="18" charset="0"/>
              </a:rPr>
              <a:t> </a:t>
            </a:r>
          </a:p>
          <a:p>
            <a:pPr marL="323850" indent="-17145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Cambios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politicas</a:t>
            </a:r>
            <a:r>
              <a:rPr lang="en-US" sz="2400" dirty="0">
                <a:latin typeface="Times New Roman" panose="02020603050405020304" pitchFamily="18" charset="0"/>
                <a:cs typeface="Times New Roman" panose="02020603050405020304" pitchFamily="18" charset="0"/>
              </a:rPr>
              <a:t> que </a:t>
            </a:r>
            <a:r>
              <a:rPr lang="en-US" sz="2400" dirty="0" err="1">
                <a:latin typeface="Times New Roman" panose="02020603050405020304" pitchFamily="18" charset="0"/>
                <a:cs typeface="Times New Roman" panose="02020603050405020304" pitchFamily="18" charset="0"/>
              </a:rPr>
              <a:t>pueden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afectar</a:t>
            </a:r>
            <a:r>
              <a:rPr lang="en-US" sz="2400" dirty="0">
                <a:latin typeface="Times New Roman" panose="02020603050405020304" pitchFamily="18" charset="0"/>
                <a:cs typeface="Times New Roman" panose="02020603050405020304" pitchFamily="18" charset="0"/>
              </a:rPr>
              <a:t> la </a:t>
            </a:r>
            <a:r>
              <a:rPr lang="en-US" sz="2400" dirty="0" err="1">
                <a:latin typeface="Times New Roman" panose="02020603050405020304" pitchFamily="18" charset="0"/>
                <a:cs typeface="Times New Roman" panose="02020603050405020304" pitchFamily="18" charset="0"/>
              </a:rPr>
              <a:t>implementacion</a:t>
            </a:r>
            <a:r>
              <a:rPr lang="en-US"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3273499" y="743644"/>
            <a:ext cx="5645001" cy="4937404"/>
          </a:xfrm>
          <a:prstGeom prst="rect">
            <a:avLst/>
          </a:prstGeom>
        </p:spPr>
      </p:pic>
      <p:sp>
        <p:nvSpPr>
          <p:cNvPr id="2" name="CuadroTexto 1"/>
          <p:cNvSpPr txBox="1"/>
          <p:nvPr/>
        </p:nvSpPr>
        <p:spPr>
          <a:xfrm>
            <a:off x="621792" y="514137"/>
            <a:ext cx="4596384" cy="707886"/>
          </a:xfrm>
          <a:prstGeom prst="rect">
            <a:avLst/>
          </a:prstGeom>
          <a:noFill/>
        </p:spPr>
        <p:txBody>
          <a:bodyPr wrap="square" rtlCol="0">
            <a:spAutoFit/>
          </a:bodyPr>
          <a:lstStyle/>
          <a:p>
            <a:r>
              <a:rPr lang="es-NI" sz="4000" b="1" dirty="0">
                <a:solidFill>
                  <a:srgbClr val="2B5E8D"/>
                </a:solidFill>
                <a:latin typeface="Times New Roman" panose="02020603050405020304" pitchFamily="18" charset="0"/>
                <a:cs typeface="Times New Roman" panose="02020603050405020304" pitchFamily="18" charset="0"/>
              </a:rPr>
              <a:t>Identidad</a:t>
            </a:r>
            <a:r>
              <a:rPr lang="es-NI" sz="4000" b="1" dirty="0">
                <a:latin typeface="Times New Roman" panose="02020603050405020304" pitchFamily="18" charset="0"/>
                <a:cs typeface="Times New Roman" panose="02020603050405020304" pitchFamily="18" charset="0"/>
              </a:rPr>
              <a:t> </a:t>
            </a:r>
            <a:r>
              <a:rPr lang="es-NI" sz="4000" b="1" dirty="0">
                <a:solidFill>
                  <a:srgbClr val="C39E51"/>
                </a:solidFill>
                <a:latin typeface="Times New Roman" panose="02020603050405020304" pitchFamily="18" charset="0"/>
                <a:cs typeface="Times New Roman" panose="02020603050405020304" pitchFamily="18" charset="0"/>
              </a:rPr>
              <a:t>visual</a:t>
            </a:r>
          </a:p>
        </p:txBody>
      </p:sp>
      <p:sp>
        <p:nvSpPr>
          <p:cNvPr id="3" name="CuadroTexto 2"/>
          <p:cNvSpPr txBox="1"/>
          <p:nvPr/>
        </p:nvSpPr>
        <p:spPr>
          <a:xfrm>
            <a:off x="2060448" y="1300062"/>
            <a:ext cx="3767328" cy="1938992"/>
          </a:xfrm>
          <a:prstGeom prst="rect">
            <a:avLst/>
          </a:prstGeom>
          <a:noFill/>
        </p:spPr>
        <p:txBody>
          <a:bodyPr wrap="square" rtlCol="0">
            <a:spAutoFit/>
          </a:bodyPr>
          <a:lstStyle/>
          <a:p>
            <a:r>
              <a:rPr lang="es-NI" sz="2800" b="1" dirty="0">
                <a:solidFill>
                  <a:srgbClr val="2B5E8D"/>
                </a:solidFill>
                <a:latin typeface="Sans-serif"/>
              </a:rPr>
              <a:t>Fuente de texto utilizada:</a:t>
            </a:r>
          </a:p>
          <a:p>
            <a:endParaRPr lang="es-NI" b="1" dirty="0">
              <a:latin typeface="Sans-serif"/>
            </a:endParaRPr>
          </a:p>
          <a:p>
            <a:pPr lvl="0">
              <a:buClr>
                <a:srgbClr val="000000"/>
              </a:buClr>
            </a:pPr>
            <a:r>
              <a:rPr lang="es-NI" sz="2800" b="1" kern="0" dirty="0">
                <a:solidFill>
                  <a:srgbClr val="000000"/>
                </a:solidFill>
                <a:latin typeface="Sans Serif Collection" panose="020B0502040504020204" charset="-78"/>
                <a:ea typeface="Sans Serif Collection" panose="020B0502040504020204" charset="-78"/>
                <a:cs typeface="Sans Serif Collection" panose="020B0502040504020204" charset="-78"/>
                <a:sym typeface="Arial" panose="020B0604020202020204"/>
              </a:rPr>
              <a:t>Sans-</a:t>
            </a:r>
            <a:r>
              <a:rPr lang="es-NI" sz="2800" b="1" kern="0" dirty="0" err="1">
                <a:solidFill>
                  <a:srgbClr val="000000"/>
                </a:solidFill>
                <a:latin typeface="Sans Serif Collection" panose="020B0502040504020204" charset="-78"/>
                <a:ea typeface="Sans Serif Collection" panose="020B0502040504020204" charset="-78"/>
                <a:cs typeface="Sans Serif Collection" panose="020B0502040504020204" charset="-78"/>
                <a:sym typeface="Arial" panose="020B0604020202020204"/>
              </a:rPr>
              <a:t>serif</a:t>
            </a:r>
            <a:endParaRPr lang="es-NI" sz="2800" b="1" kern="0" dirty="0">
              <a:solidFill>
                <a:srgbClr val="000000"/>
              </a:solidFill>
              <a:latin typeface="Sans Serif Collection" panose="020B0502040504020204" charset="-78"/>
              <a:ea typeface="Sans Serif Collection" panose="020B0502040504020204" charset="-78"/>
              <a:cs typeface="Sans Serif Collection" panose="020B0502040504020204" charset="-78"/>
              <a:sym typeface="Arial" panose="020B0604020202020204"/>
            </a:endParaRPr>
          </a:p>
          <a:p>
            <a:endParaRPr lang="es-NI" b="1" dirty="0">
              <a:latin typeface="Sans-serif"/>
            </a:endParaRPr>
          </a:p>
        </p:txBody>
      </p:sp>
      <p:sp>
        <p:nvSpPr>
          <p:cNvPr id="4" name="CuadroTexto 3"/>
          <p:cNvSpPr txBox="1"/>
          <p:nvPr/>
        </p:nvSpPr>
        <p:spPr>
          <a:xfrm>
            <a:off x="7534656" y="743644"/>
            <a:ext cx="3755136" cy="523220"/>
          </a:xfrm>
          <a:prstGeom prst="rect">
            <a:avLst/>
          </a:prstGeom>
          <a:noFill/>
        </p:spPr>
        <p:txBody>
          <a:bodyPr wrap="square" rtlCol="0">
            <a:spAutoFit/>
          </a:bodyPr>
          <a:lstStyle/>
          <a:p>
            <a:r>
              <a:rPr lang="es-NI" sz="2800" b="1" dirty="0">
                <a:solidFill>
                  <a:srgbClr val="B79349"/>
                </a:solidFill>
                <a:latin typeface="Times New Roman" panose="02020603050405020304" pitchFamily="18" charset="0"/>
                <a:cs typeface="Times New Roman" panose="02020603050405020304" pitchFamily="18" charset="0"/>
              </a:rPr>
              <a:t>Logotipo de la empresa</a:t>
            </a:r>
          </a:p>
        </p:txBody>
      </p:sp>
      <p:pic>
        <p:nvPicPr>
          <p:cNvPr id="5" name="Imagen 4"/>
          <p:cNvPicPr>
            <a:picLocks noChangeAspect="1"/>
          </p:cNvPicPr>
          <p:nvPr/>
        </p:nvPicPr>
        <p:blipFill>
          <a:blip r:embed="rId3"/>
          <a:stretch>
            <a:fillRect/>
          </a:stretch>
        </p:blipFill>
        <p:spPr>
          <a:xfrm>
            <a:off x="6541060" y="1416018"/>
            <a:ext cx="4834075" cy="3004761"/>
          </a:xfrm>
          <a:prstGeom prst="rect">
            <a:avLst/>
          </a:prstGeom>
        </p:spPr>
      </p:pic>
      <p:sp>
        <p:nvSpPr>
          <p:cNvPr id="8" name="CuadroTexto 7"/>
          <p:cNvSpPr txBox="1"/>
          <p:nvPr/>
        </p:nvSpPr>
        <p:spPr>
          <a:xfrm>
            <a:off x="1484455" y="3295446"/>
            <a:ext cx="4450080" cy="584775"/>
          </a:xfrm>
          <a:prstGeom prst="rect">
            <a:avLst/>
          </a:prstGeom>
          <a:noFill/>
        </p:spPr>
        <p:txBody>
          <a:bodyPr wrap="square" rtlCol="0">
            <a:spAutoFit/>
          </a:bodyPr>
          <a:lstStyle/>
          <a:p>
            <a:r>
              <a:rPr lang="es-NI" sz="3200" b="1" dirty="0">
                <a:solidFill>
                  <a:srgbClr val="255683"/>
                </a:solidFill>
                <a:latin typeface="Times New Roman" panose="02020603050405020304" pitchFamily="18" charset="0"/>
                <a:cs typeface="Times New Roman" panose="02020603050405020304" pitchFamily="18" charset="0"/>
              </a:rPr>
              <a:t>Paleta de colores</a:t>
            </a:r>
          </a:p>
        </p:txBody>
      </p:sp>
      <p:pic>
        <p:nvPicPr>
          <p:cNvPr id="11" name="Imagen 10"/>
          <p:cNvPicPr>
            <a:picLocks noChangeAspect="1"/>
          </p:cNvPicPr>
          <p:nvPr/>
        </p:nvPicPr>
        <p:blipFill>
          <a:blip r:embed="rId4"/>
          <a:stretch>
            <a:fillRect/>
          </a:stretch>
        </p:blipFill>
        <p:spPr>
          <a:xfrm>
            <a:off x="701483" y="3936613"/>
            <a:ext cx="5670296" cy="19857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3273499" y="743644"/>
            <a:ext cx="5645001" cy="4937404"/>
          </a:xfrm>
          <a:prstGeom prst="rect">
            <a:avLst/>
          </a:prstGeom>
        </p:spPr>
      </p:pic>
      <p:sp>
        <p:nvSpPr>
          <p:cNvPr id="2" name="CuadroTexto 1"/>
          <p:cNvSpPr txBox="1"/>
          <p:nvPr/>
        </p:nvSpPr>
        <p:spPr>
          <a:xfrm>
            <a:off x="682752" y="743644"/>
            <a:ext cx="4437888" cy="1077218"/>
          </a:xfrm>
          <a:prstGeom prst="rect">
            <a:avLst/>
          </a:prstGeom>
          <a:noFill/>
        </p:spPr>
        <p:txBody>
          <a:bodyPr wrap="square" rtlCol="0">
            <a:spAutoFit/>
          </a:bodyPr>
          <a:lstStyle/>
          <a:p>
            <a:r>
              <a:rPr lang="es-NI" sz="3200" b="1" dirty="0">
                <a:solidFill>
                  <a:srgbClr val="255683"/>
                </a:solidFill>
                <a:latin typeface="Times New Roman" panose="02020603050405020304" pitchFamily="18" charset="0"/>
                <a:cs typeface="Times New Roman" panose="02020603050405020304" pitchFamily="18" charset="0"/>
              </a:rPr>
              <a:t>Otras propuestas </a:t>
            </a:r>
            <a:r>
              <a:rPr lang="es-NI" sz="3200" b="1" dirty="0">
                <a:solidFill>
                  <a:srgbClr val="C7A152"/>
                </a:solidFill>
                <a:latin typeface="Times New Roman" panose="02020603050405020304" pitchFamily="18" charset="0"/>
                <a:cs typeface="Times New Roman" panose="02020603050405020304" pitchFamily="18" charset="0"/>
              </a:rPr>
              <a:t>de diseño</a:t>
            </a:r>
          </a:p>
        </p:txBody>
      </p:sp>
      <p:pic>
        <p:nvPicPr>
          <p:cNvPr id="3" name="Imagen 2"/>
          <p:cNvPicPr>
            <a:picLocks noChangeAspect="1"/>
          </p:cNvPicPr>
          <p:nvPr/>
        </p:nvPicPr>
        <p:blipFill>
          <a:blip r:embed="rId3"/>
          <a:stretch>
            <a:fillRect/>
          </a:stretch>
        </p:blipFill>
        <p:spPr>
          <a:xfrm>
            <a:off x="619104" y="1778674"/>
            <a:ext cx="6438188" cy="33006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cstate="print">
            <a:lum bright="70000" contrast="-70000"/>
            <a:extLst>
              <a:ext uri="{28A0092B-C50C-407E-A947-70E740481C1C}">
                <a14:useLocalDpi xmlns:a14="http://schemas.microsoft.com/office/drawing/2010/main" val="0"/>
              </a:ext>
            </a:extLst>
          </a:blip>
          <a:srcRect l="18998" t="10901" r="17517" b="5808"/>
          <a:stretch>
            <a:fillRect/>
          </a:stretch>
        </p:blipFill>
        <p:spPr>
          <a:xfrm>
            <a:off x="10382885" y="535305"/>
            <a:ext cx="1114425" cy="974725"/>
          </a:xfrm>
          <a:prstGeom prst="rect">
            <a:avLst/>
          </a:prstGeom>
        </p:spPr>
      </p:pic>
      <p:sp>
        <p:nvSpPr>
          <p:cNvPr id="2" name="CuadroTexto 1"/>
          <p:cNvSpPr txBox="1"/>
          <p:nvPr/>
        </p:nvSpPr>
        <p:spPr>
          <a:xfrm>
            <a:off x="584581" y="728599"/>
            <a:ext cx="4169664" cy="1076325"/>
          </a:xfrm>
          <a:prstGeom prst="rect">
            <a:avLst/>
          </a:prstGeom>
          <a:noFill/>
        </p:spPr>
        <p:txBody>
          <a:bodyPr wrap="square" rtlCol="0">
            <a:spAutoFit/>
          </a:bodyPr>
          <a:lstStyle/>
          <a:p>
            <a:r>
              <a:rPr lang="es-ES" altLang="es-NI" sz="3200" b="1" dirty="0">
                <a:solidFill>
                  <a:srgbClr val="2B5E8D"/>
                </a:solidFill>
                <a:latin typeface="Times New Roman" panose="02020603050405020304" pitchFamily="18" charset="0"/>
                <a:cs typeface="Times New Roman" panose="02020603050405020304" pitchFamily="18" charset="0"/>
              </a:rPr>
              <a:t>Lean</a:t>
            </a:r>
          </a:p>
          <a:p>
            <a:r>
              <a:rPr lang="es-ES" altLang="es-NI" sz="3200" b="1" dirty="0">
                <a:solidFill>
                  <a:srgbClr val="C7A152"/>
                </a:solidFill>
                <a:latin typeface="Times New Roman" panose="02020603050405020304" pitchFamily="18" charset="0"/>
                <a:cs typeface="Times New Roman" panose="02020603050405020304" pitchFamily="18" charset="0"/>
              </a:rPr>
              <a:t>Canva</a:t>
            </a:r>
          </a:p>
        </p:txBody>
      </p:sp>
      <p:pic>
        <p:nvPicPr>
          <p:cNvPr id="5" name="Imagen 4"/>
          <p:cNvPicPr>
            <a:picLocks noChangeAspect="1"/>
          </p:cNvPicPr>
          <p:nvPr/>
        </p:nvPicPr>
        <p:blipFill>
          <a:blip r:embed="rId3"/>
          <a:stretch>
            <a:fillRect/>
          </a:stretch>
        </p:blipFill>
        <p:spPr>
          <a:xfrm>
            <a:off x="2379980" y="633730"/>
            <a:ext cx="7417435" cy="5528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3273499" y="743644"/>
            <a:ext cx="5645001" cy="4937404"/>
          </a:xfrm>
          <a:prstGeom prst="rect">
            <a:avLst/>
          </a:prstGeom>
        </p:spPr>
      </p:pic>
      <p:sp>
        <p:nvSpPr>
          <p:cNvPr id="2" name="CuadroTexto 1"/>
          <p:cNvSpPr txBox="1"/>
          <p:nvPr/>
        </p:nvSpPr>
        <p:spPr>
          <a:xfrm>
            <a:off x="646176" y="633984"/>
            <a:ext cx="4169664" cy="1077218"/>
          </a:xfrm>
          <a:prstGeom prst="rect">
            <a:avLst/>
          </a:prstGeom>
          <a:noFill/>
        </p:spPr>
        <p:txBody>
          <a:bodyPr wrap="square" rtlCol="0">
            <a:spAutoFit/>
          </a:bodyPr>
          <a:lstStyle/>
          <a:p>
            <a:r>
              <a:rPr lang="es-NI" sz="3200" b="1" dirty="0">
                <a:solidFill>
                  <a:srgbClr val="C7A152"/>
                </a:solidFill>
                <a:latin typeface="Times New Roman" panose="02020603050405020304" pitchFamily="18" charset="0"/>
                <a:cs typeface="Times New Roman" panose="02020603050405020304" pitchFamily="18" charset="0"/>
              </a:rPr>
              <a:t>Producto</a:t>
            </a:r>
            <a:r>
              <a:rPr lang="es-NI" sz="3200" b="1" dirty="0">
                <a:latin typeface="Times New Roman" panose="02020603050405020304" pitchFamily="18" charset="0"/>
                <a:cs typeface="Times New Roman" panose="02020603050405020304" pitchFamily="18" charset="0"/>
              </a:rPr>
              <a:t> </a:t>
            </a:r>
            <a:r>
              <a:rPr lang="es-NI" sz="3200" b="1" dirty="0">
                <a:solidFill>
                  <a:srgbClr val="2B5E8D"/>
                </a:solidFill>
                <a:latin typeface="Times New Roman" panose="02020603050405020304" pitchFamily="18" charset="0"/>
                <a:cs typeface="Times New Roman" panose="02020603050405020304" pitchFamily="18" charset="0"/>
              </a:rPr>
              <a:t>comercializado</a:t>
            </a:r>
          </a:p>
        </p:txBody>
      </p:sp>
      <p:sp>
        <p:nvSpPr>
          <p:cNvPr id="3" name="CuadroTexto 2"/>
          <p:cNvSpPr txBox="1"/>
          <p:nvPr/>
        </p:nvSpPr>
        <p:spPr>
          <a:xfrm>
            <a:off x="478301" y="1711202"/>
            <a:ext cx="5922499" cy="4154984"/>
          </a:xfrm>
          <a:prstGeom prst="rect">
            <a:avLst/>
          </a:prstGeom>
          <a:noFill/>
        </p:spPr>
        <p:txBody>
          <a:bodyPr wrap="square" rtlCol="0">
            <a:spAutoFit/>
          </a:bodyPr>
          <a:lstStyle/>
          <a:p>
            <a:r>
              <a:rPr lang="es-NI" sz="2400" dirty="0">
                <a:latin typeface="Times New Roman" panose="02020603050405020304" pitchFamily="18" charset="0"/>
                <a:cs typeface="Times New Roman" panose="02020603050405020304" pitchFamily="18" charset="0"/>
              </a:rPr>
              <a:t>Nuestra empresa se caracteriza en la creación de videojuegos educativos referentes a la historia de Nicaragua, como producto de nuestra empresa desarrollamos un videojuego educativo llamado </a:t>
            </a:r>
            <a:r>
              <a:rPr lang="es-NI" sz="2400" dirty="0" err="1">
                <a:latin typeface="Times New Roman" panose="02020603050405020304" pitchFamily="18" charset="0"/>
                <a:cs typeface="Times New Roman" panose="02020603050405020304" pitchFamily="18" charset="0"/>
              </a:rPr>
              <a:t>Prahaku</a:t>
            </a:r>
            <a:r>
              <a:rPr lang="es-NI" sz="2400" dirty="0">
                <a:latin typeface="Times New Roman" panose="02020603050405020304" pitchFamily="18" charset="0"/>
                <a:cs typeface="Times New Roman" panose="02020603050405020304" pitchFamily="18" charset="0"/>
              </a:rPr>
              <a:t>; la manera en que el usuario puede participar activamente durante las lecciones que son a modo de novela visual y después responder los </a:t>
            </a:r>
            <a:r>
              <a:rPr lang="es-NI" sz="2400" dirty="0" err="1">
                <a:latin typeface="Times New Roman" panose="02020603050405020304" pitchFamily="18" charset="0"/>
                <a:cs typeface="Times New Roman" panose="02020603050405020304" pitchFamily="18" charset="0"/>
              </a:rPr>
              <a:t>quizes</a:t>
            </a:r>
            <a:r>
              <a:rPr lang="es-NI" sz="2400" dirty="0">
                <a:latin typeface="Times New Roman" panose="02020603050405020304" pitchFamily="18" charset="0"/>
                <a:cs typeface="Times New Roman" panose="02020603050405020304" pitchFamily="18" charset="0"/>
              </a:rPr>
              <a:t> interactivos que se presentan, es una gran propuesta al avance de los juegos educativos nicaragüen</a:t>
            </a:r>
            <a:r>
              <a:rPr lang="es-NI" sz="2000" dirty="0">
                <a:latin typeface="Times New Roman" panose="02020603050405020304" pitchFamily="18" charset="0"/>
                <a:cs typeface="Times New Roman" panose="02020603050405020304" pitchFamily="18" charset="0"/>
              </a:rPr>
              <a:t>ses </a:t>
            </a:r>
          </a:p>
        </p:txBody>
      </p:sp>
      <p:pic>
        <p:nvPicPr>
          <p:cNvPr id="4" name="Imagen 3"/>
          <p:cNvPicPr>
            <a:picLocks noChangeAspect="1"/>
          </p:cNvPicPr>
          <p:nvPr/>
        </p:nvPicPr>
        <p:blipFill>
          <a:blip r:embed="rId3"/>
          <a:stretch>
            <a:fillRect/>
          </a:stretch>
        </p:blipFill>
        <p:spPr>
          <a:xfrm>
            <a:off x="6769466" y="1394996"/>
            <a:ext cx="4068008" cy="40680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0" y="0"/>
            <a:ext cx="12192000" cy="436098"/>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p:cNvSpPr/>
          <p:nvPr/>
        </p:nvSpPr>
        <p:spPr>
          <a:xfrm>
            <a:off x="0" y="6421902"/>
            <a:ext cx="12192000" cy="436098"/>
          </a:xfrm>
          <a:prstGeom prst="rect">
            <a:avLst/>
          </a:prstGeom>
          <a:solidFill>
            <a:srgbClr val="B79349"/>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3273499" y="743644"/>
            <a:ext cx="5645001" cy="4937404"/>
          </a:xfrm>
          <a:prstGeom prst="rect">
            <a:avLst/>
          </a:prstGeom>
        </p:spPr>
      </p:pic>
      <p:sp>
        <p:nvSpPr>
          <p:cNvPr id="2" name="CuadroTexto 1"/>
          <p:cNvSpPr txBox="1"/>
          <p:nvPr/>
        </p:nvSpPr>
        <p:spPr>
          <a:xfrm>
            <a:off x="478301" y="482034"/>
            <a:ext cx="7473696" cy="523220"/>
          </a:xfrm>
          <a:prstGeom prst="rect">
            <a:avLst/>
          </a:prstGeom>
          <a:noFill/>
        </p:spPr>
        <p:txBody>
          <a:bodyPr wrap="square" rtlCol="0">
            <a:spAutoFit/>
          </a:bodyPr>
          <a:lstStyle/>
          <a:p>
            <a:r>
              <a:rPr lang="es-NI" sz="2800" b="1" dirty="0">
                <a:solidFill>
                  <a:srgbClr val="2B5E8D"/>
                </a:solidFill>
                <a:latin typeface="Times New Roman" panose="02020603050405020304" pitchFamily="18" charset="0"/>
                <a:cs typeface="Times New Roman" panose="02020603050405020304" pitchFamily="18" charset="0"/>
              </a:rPr>
              <a:t>Futuro de nuestro </a:t>
            </a:r>
            <a:r>
              <a:rPr lang="es-NI" sz="2800" b="1" dirty="0">
                <a:solidFill>
                  <a:srgbClr val="B79349"/>
                </a:solidFill>
                <a:latin typeface="Times New Roman" panose="02020603050405020304" pitchFamily="18" charset="0"/>
                <a:cs typeface="Times New Roman" panose="02020603050405020304" pitchFamily="18" charset="0"/>
              </a:rPr>
              <a:t>proyecto como empresa</a:t>
            </a:r>
          </a:p>
        </p:txBody>
      </p:sp>
      <p:pic>
        <p:nvPicPr>
          <p:cNvPr id="3" name="Imagen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408" y="1379668"/>
            <a:ext cx="4809132" cy="4301380"/>
          </a:xfrm>
          <a:prstGeom prst="rect">
            <a:avLst/>
          </a:prstGeom>
        </p:spPr>
      </p:pic>
      <p:sp>
        <p:nvSpPr>
          <p:cNvPr id="4" name="CuadroTexto 3"/>
          <p:cNvSpPr txBox="1"/>
          <p:nvPr/>
        </p:nvSpPr>
        <p:spPr>
          <a:xfrm>
            <a:off x="675392" y="1379668"/>
            <a:ext cx="5786368" cy="3785652"/>
          </a:xfrm>
          <a:prstGeom prst="rect">
            <a:avLst/>
          </a:prstGeom>
          <a:noFill/>
        </p:spPr>
        <p:txBody>
          <a:bodyPr wrap="square" rtlCol="0">
            <a:spAutoFit/>
          </a:bodyPr>
          <a:lstStyle/>
          <a:p>
            <a:r>
              <a:rPr lang="es-NI" sz="2400" dirty="0">
                <a:latin typeface="Times New Roman" panose="02020603050405020304" pitchFamily="18" charset="0"/>
                <a:cs typeface="Times New Roman" panose="02020603050405020304" pitchFamily="18" charset="0"/>
              </a:rPr>
              <a:t>Como empresa tenemos la meta a largo plazo de comercializar a gran escala nuestro producto </a:t>
            </a:r>
            <a:r>
              <a:rPr lang="es-NI" sz="2400" dirty="0" err="1">
                <a:latin typeface="Times New Roman" panose="02020603050405020304" pitchFamily="18" charset="0"/>
                <a:cs typeface="Times New Roman" panose="02020603050405020304" pitchFamily="18" charset="0"/>
              </a:rPr>
              <a:t>Prahaku</a:t>
            </a:r>
            <a:r>
              <a:rPr lang="es-NI" sz="2400" dirty="0">
                <a:latin typeface="Times New Roman" panose="02020603050405020304" pitchFamily="18" charset="0"/>
                <a:cs typeface="Times New Roman" panose="02020603050405020304" pitchFamily="18" charset="0"/>
              </a:rPr>
              <a:t>, logrando hacerle un lugar en la </a:t>
            </a:r>
            <a:r>
              <a:rPr lang="es-NI" sz="2400" dirty="0" err="1">
                <a:latin typeface="Times New Roman" panose="02020603050405020304" pitchFamily="18" charset="0"/>
                <a:cs typeface="Times New Roman" panose="02020603050405020304" pitchFamily="18" charset="0"/>
              </a:rPr>
              <a:t>play</a:t>
            </a:r>
            <a:r>
              <a:rPr lang="es-NI" sz="2400" dirty="0">
                <a:latin typeface="Times New Roman" panose="02020603050405020304" pitchFamily="18" charset="0"/>
                <a:cs typeface="Times New Roman" panose="02020603050405020304" pitchFamily="18" charset="0"/>
              </a:rPr>
              <a:t> store para que muchas personas puedan descargarlo y aprender de la historia de nuestro país, dando mantenimiento constante ante bugs o </a:t>
            </a:r>
            <a:r>
              <a:rPr lang="es-NI" sz="2400" dirty="0" err="1">
                <a:latin typeface="Times New Roman" panose="02020603050405020304" pitchFamily="18" charset="0"/>
                <a:cs typeface="Times New Roman" panose="02020603050405020304" pitchFamily="18" charset="0"/>
              </a:rPr>
              <a:t>glitches</a:t>
            </a:r>
            <a:r>
              <a:rPr lang="es-NI" sz="2400" dirty="0">
                <a:latin typeface="Times New Roman" panose="02020603050405020304" pitchFamily="18" charset="0"/>
                <a:cs typeface="Times New Roman" panose="02020603050405020304" pitchFamily="18" charset="0"/>
              </a:rPr>
              <a:t> que presente el juego, tenemos una visión de nuestro juego siendo reconocido tanto dentro como fuera del </a:t>
            </a:r>
            <a:r>
              <a:rPr lang="es-NI" sz="2400" dirty="0" err="1">
                <a:latin typeface="Times New Roman" panose="02020603050405020304" pitchFamily="18" charset="0"/>
                <a:cs typeface="Times New Roman" panose="02020603050405020304" pitchFamily="18" charset="0"/>
              </a:rPr>
              <a:t>pais</a:t>
            </a:r>
            <a:endParaRPr lang="es-NI"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A180C-50AE-F02F-7526-2BD96E680C8B}"/>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566941D2-2B69-2CB3-D283-DA450253366D}"/>
              </a:ext>
            </a:extLst>
          </p:cNvPr>
          <p:cNvSpPr/>
          <p:nvPr/>
        </p:nvSpPr>
        <p:spPr>
          <a:xfrm>
            <a:off x="0" y="0"/>
            <a:ext cx="12192000" cy="436098"/>
          </a:xfrm>
          <a:prstGeom prst="rect">
            <a:avLst/>
          </a:prstGeom>
          <a:solidFill>
            <a:srgbClr val="255683"/>
          </a:solidFill>
          <a:ln>
            <a:solidFill>
              <a:srgbClr val="2B5E8D"/>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79763282-7B26-C405-1058-6BF66D01B4F6}"/>
              </a:ext>
            </a:extLst>
          </p:cNvPr>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4537207F-A7B7-F101-F8E8-F48BEF40F466}"/>
              </a:ext>
            </a:extLst>
          </p:cNvPr>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28EB9702-E897-C267-FA56-F3F7433AF73F}"/>
              </a:ext>
            </a:extLst>
          </p:cNvPr>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a:extLst>
              <a:ext uri="{FF2B5EF4-FFF2-40B4-BE49-F238E27FC236}">
                <a16:creationId xmlns:a16="http://schemas.microsoft.com/office/drawing/2014/main" id="{269FA8D0-4DF1-767B-3835-92FF4D4C54ED}"/>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3273499" y="743644"/>
            <a:ext cx="5645001" cy="4937404"/>
          </a:xfrm>
          <a:prstGeom prst="rect">
            <a:avLst/>
          </a:prstGeom>
        </p:spPr>
      </p:pic>
      <p:sp>
        <p:nvSpPr>
          <p:cNvPr id="2" name="CuadroTexto 1">
            <a:extLst>
              <a:ext uri="{FF2B5EF4-FFF2-40B4-BE49-F238E27FC236}">
                <a16:creationId xmlns:a16="http://schemas.microsoft.com/office/drawing/2014/main" id="{76E479B7-F08A-6C8D-8684-53C2E30B52EA}"/>
              </a:ext>
            </a:extLst>
          </p:cNvPr>
          <p:cNvSpPr txBox="1"/>
          <p:nvPr/>
        </p:nvSpPr>
        <p:spPr>
          <a:xfrm>
            <a:off x="1378303" y="473861"/>
            <a:ext cx="3086336" cy="769441"/>
          </a:xfrm>
          <a:prstGeom prst="rect">
            <a:avLst/>
          </a:prstGeom>
          <a:noFill/>
        </p:spPr>
        <p:txBody>
          <a:bodyPr wrap="square" rtlCol="0">
            <a:spAutoFit/>
          </a:bodyPr>
          <a:lstStyle/>
          <a:p>
            <a:r>
              <a:rPr lang="es-NI" sz="4400" b="1" dirty="0" err="1">
                <a:solidFill>
                  <a:srgbClr val="2B5E8D"/>
                </a:solidFill>
                <a:latin typeface="Times New Roman" panose="02020603050405020304" pitchFamily="18" charset="0"/>
                <a:cs typeface="Times New Roman" panose="02020603050405020304" pitchFamily="18" charset="0"/>
              </a:rPr>
              <a:t>Data</a:t>
            </a:r>
            <a:r>
              <a:rPr lang="es-NI" sz="4400" b="1" dirty="0" err="1">
                <a:solidFill>
                  <a:srgbClr val="C39E51"/>
                </a:solidFill>
                <a:latin typeface="Times New Roman" panose="02020603050405020304" pitchFamily="18" charset="0"/>
                <a:cs typeface="Times New Roman" panose="02020603050405020304" pitchFamily="18" charset="0"/>
              </a:rPr>
              <a:t>clases</a:t>
            </a:r>
            <a:endParaRPr lang="es-NI" sz="4400" b="1" dirty="0">
              <a:solidFill>
                <a:srgbClr val="C39E51"/>
              </a:solidFill>
              <a:latin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C2095011-DA7F-3FB3-8762-75DC6B2F3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97" y="1281065"/>
            <a:ext cx="5359400" cy="2411730"/>
          </a:xfrm>
          <a:prstGeom prst="rect">
            <a:avLst/>
          </a:prstGeom>
        </p:spPr>
      </p:pic>
      <p:pic>
        <p:nvPicPr>
          <p:cNvPr id="8" name="Imagen 7">
            <a:extLst>
              <a:ext uri="{FF2B5EF4-FFF2-40B4-BE49-F238E27FC236}">
                <a16:creationId xmlns:a16="http://schemas.microsoft.com/office/drawing/2014/main" id="{10ACF018-F291-A7F0-B29E-16E93084AE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999" y="1137077"/>
            <a:ext cx="5441315" cy="2469515"/>
          </a:xfrm>
          <a:prstGeom prst="rect">
            <a:avLst/>
          </a:prstGeom>
        </p:spPr>
      </p:pic>
      <p:pic>
        <p:nvPicPr>
          <p:cNvPr id="11" name="Imagen 10">
            <a:extLst>
              <a:ext uri="{FF2B5EF4-FFF2-40B4-BE49-F238E27FC236}">
                <a16:creationId xmlns:a16="http://schemas.microsoft.com/office/drawing/2014/main" id="{1B412C72-7FD5-4F7A-AEC2-666E5650AE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234" y="3833115"/>
            <a:ext cx="5485765" cy="2462530"/>
          </a:xfrm>
          <a:prstGeom prst="rect">
            <a:avLst/>
          </a:prstGeom>
        </p:spPr>
      </p:pic>
      <p:pic>
        <p:nvPicPr>
          <p:cNvPr id="12" name="Imagen 11">
            <a:extLst>
              <a:ext uri="{FF2B5EF4-FFF2-40B4-BE49-F238E27FC236}">
                <a16:creationId xmlns:a16="http://schemas.microsoft.com/office/drawing/2014/main" id="{C9E53212-2C7B-932E-268C-DEA997998F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1999" y="3730607"/>
            <a:ext cx="5199326" cy="2565038"/>
          </a:xfrm>
          <a:prstGeom prst="rect">
            <a:avLst/>
          </a:prstGeom>
        </p:spPr>
      </p:pic>
      <p:sp>
        <p:nvSpPr>
          <p:cNvPr id="13" name="Rectángulo 12">
            <a:extLst>
              <a:ext uri="{FF2B5EF4-FFF2-40B4-BE49-F238E27FC236}">
                <a16:creationId xmlns:a16="http://schemas.microsoft.com/office/drawing/2014/main" id="{5B2FD2A1-730E-D9B4-A440-2EE390199C0C}"/>
              </a:ext>
            </a:extLst>
          </p:cNvPr>
          <p:cNvSpPr/>
          <p:nvPr/>
        </p:nvSpPr>
        <p:spPr>
          <a:xfrm>
            <a:off x="608636" y="1176952"/>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Rectángulo 13">
            <a:extLst>
              <a:ext uri="{FF2B5EF4-FFF2-40B4-BE49-F238E27FC236}">
                <a16:creationId xmlns:a16="http://schemas.microsoft.com/office/drawing/2014/main" id="{69D07D26-58D8-BE62-83A2-B13849086654}"/>
              </a:ext>
            </a:extLst>
          </p:cNvPr>
          <p:cNvSpPr/>
          <p:nvPr/>
        </p:nvSpPr>
        <p:spPr>
          <a:xfrm>
            <a:off x="505607" y="3692517"/>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Rectángulo 14">
            <a:extLst>
              <a:ext uri="{FF2B5EF4-FFF2-40B4-BE49-F238E27FC236}">
                <a16:creationId xmlns:a16="http://schemas.microsoft.com/office/drawing/2014/main" id="{B51A096B-812C-F3B5-3A53-F2B0812F51ED}"/>
              </a:ext>
            </a:extLst>
          </p:cNvPr>
          <p:cNvSpPr/>
          <p:nvPr/>
        </p:nvSpPr>
        <p:spPr>
          <a:xfrm>
            <a:off x="608635" y="6258909"/>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6" name="Rectángulo 15">
            <a:extLst>
              <a:ext uri="{FF2B5EF4-FFF2-40B4-BE49-F238E27FC236}">
                <a16:creationId xmlns:a16="http://schemas.microsoft.com/office/drawing/2014/main" id="{015FF537-FF65-A2E5-CB30-F04BF6C7FE25}"/>
              </a:ext>
            </a:extLst>
          </p:cNvPr>
          <p:cNvSpPr/>
          <p:nvPr/>
        </p:nvSpPr>
        <p:spPr>
          <a:xfrm>
            <a:off x="6161961" y="6271989"/>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7" name="Rectángulo 16">
            <a:extLst>
              <a:ext uri="{FF2B5EF4-FFF2-40B4-BE49-F238E27FC236}">
                <a16:creationId xmlns:a16="http://schemas.microsoft.com/office/drawing/2014/main" id="{39E3C3BA-927B-B1AC-FF4C-6FC5DE1DBFE8}"/>
              </a:ext>
            </a:extLst>
          </p:cNvPr>
          <p:cNvSpPr/>
          <p:nvPr/>
        </p:nvSpPr>
        <p:spPr>
          <a:xfrm>
            <a:off x="6081924" y="982137"/>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2CADBB4D-1CA8-E9C1-2D24-D6579AD8136F}"/>
              </a:ext>
            </a:extLst>
          </p:cNvPr>
          <p:cNvSpPr/>
          <p:nvPr/>
        </p:nvSpPr>
        <p:spPr>
          <a:xfrm>
            <a:off x="6081924" y="3600989"/>
            <a:ext cx="5359401" cy="154940"/>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19">
            <a:extLst>
              <a:ext uri="{FF2B5EF4-FFF2-40B4-BE49-F238E27FC236}">
                <a16:creationId xmlns:a16="http://schemas.microsoft.com/office/drawing/2014/main" id="{7DB48917-5671-8D64-831A-00D6ABB05712}"/>
              </a:ext>
            </a:extLst>
          </p:cNvPr>
          <p:cNvSpPr/>
          <p:nvPr/>
        </p:nvSpPr>
        <p:spPr>
          <a:xfrm rot="5400000">
            <a:off x="4596817" y="2347294"/>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20">
            <a:extLst>
              <a:ext uri="{FF2B5EF4-FFF2-40B4-BE49-F238E27FC236}">
                <a16:creationId xmlns:a16="http://schemas.microsoft.com/office/drawing/2014/main" id="{633012AC-E06C-72AE-1B30-01539D412FD1}"/>
              </a:ext>
            </a:extLst>
          </p:cNvPr>
          <p:cNvSpPr/>
          <p:nvPr/>
        </p:nvSpPr>
        <p:spPr>
          <a:xfrm rot="5400000">
            <a:off x="10098140" y="2313040"/>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877B59B0-4A70-EC47-728C-F6BE854CCE1F}"/>
              </a:ext>
            </a:extLst>
          </p:cNvPr>
          <p:cNvSpPr/>
          <p:nvPr/>
        </p:nvSpPr>
        <p:spPr>
          <a:xfrm rot="5400000">
            <a:off x="10067213" y="4829100"/>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48C00081-B65C-479A-6B42-399EA04038B7}"/>
              </a:ext>
            </a:extLst>
          </p:cNvPr>
          <p:cNvSpPr/>
          <p:nvPr/>
        </p:nvSpPr>
        <p:spPr>
          <a:xfrm rot="5400000">
            <a:off x="-836939" y="4912893"/>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23">
            <a:extLst>
              <a:ext uri="{FF2B5EF4-FFF2-40B4-BE49-F238E27FC236}">
                <a16:creationId xmlns:a16="http://schemas.microsoft.com/office/drawing/2014/main" id="{8447A936-E707-BB5F-6D2B-6EE3CF2E18B4}"/>
              </a:ext>
            </a:extLst>
          </p:cNvPr>
          <p:cNvSpPr/>
          <p:nvPr/>
        </p:nvSpPr>
        <p:spPr>
          <a:xfrm rot="5400000">
            <a:off x="-847250" y="2502232"/>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Rectángulo 24">
            <a:extLst>
              <a:ext uri="{FF2B5EF4-FFF2-40B4-BE49-F238E27FC236}">
                <a16:creationId xmlns:a16="http://schemas.microsoft.com/office/drawing/2014/main" id="{7E0CAC72-A4F0-EE2A-94F8-F2F8D8CDC456}"/>
              </a:ext>
            </a:extLst>
          </p:cNvPr>
          <p:cNvSpPr/>
          <p:nvPr/>
        </p:nvSpPr>
        <p:spPr>
          <a:xfrm rot="5400000">
            <a:off x="4745340" y="4958215"/>
            <a:ext cx="2847897" cy="117587"/>
          </a:xfrm>
          <a:prstGeom prst="rect">
            <a:avLst/>
          </a:prstGeom>
          <a:solidFill>
            <a:srgbClr val="B79349"/>
          </a:solidFill>
          <a:ln>
            <a:solidFill>
              <a:srgbClr val="FFFFFF"/>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799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D55B-0D1C-1E56-DBE0-526094573AF2}"/>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AB47DB82-0CB4-1E3D-4D2A-6DADDB8FB491}"/>
              </a:ext>
            </a:extLst>
          </p:cNvPr>
          <p:cNvSpPr/>
          <p:nvPr/>
        </p:nvSpPr>
        <p:spPr>
          <a:xfrm>
            <a:off x="0" y="0"/>
            <a:ext cx="12192000" cy="436098"/>
          </a:xfrm>
          <a:prstGeom prst="rect">
            <a:avLst/>
          </a:prstGeom>
          <a:solidFill>
            <a:srgbClr val="255683"/>
          </a:solidFill>
          <a:ln>
            <a:solidFill>
              <a:srgbClr val="2B5E8D"/>
            </a:solidFill>
          </a:ln>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9956E387-531A-BD76-E38C-10D3E87088C5}"/>
              </a:ext>
            </a:extLst>
          </p:cNvPr>
          <p:cNvSpPr/>
          <p:nvPr/>
        </p:nvSpPr>
        <p:spPr>
          <a:xfrm>
            <a:off x="0" y="6421902"/>
            <a:ext cx="12192000" cy="436098"/>
          </a:xfrm>
          <a:prstGeom prst="rect">
            <a:avLst/>
          </a:prstGeom>
          <a:solidFill>
            <a:srgbClr val="255683"/>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98B1D98B-B56B-8404-BEB2-97A72B02F55D}"/>
              </a:ext>
            </a:extLst>
          </p:cNvPr>
          <p:cNvSpPr/>
          <p:nvPr/>
        </p:nvSpPr>
        <p:spPr>
          <a:xfrm>
            <a:off x="-1406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2B9F9371-55D3-C99E-F969-7358641A8171}"/>
              </a:ext>
            </a:extLst>
          </p:cNvPr>
          <p:cNvSpPr/>
          <p:nvPr/>
        </p:nvSpPr>
        <p:spPr>
          <a:xfrm>
            <a:off x="11713698" y="436098"/>
            <a:ext cx="478302" cy="5985804"/>
          </a:xfrm>
          <a:prstGeom prst="rect">
            <a:avLst/>
          </a:prstGeom>
          <a:solidFill>
            <a:schemeClr val="accent5">
              <a:lumMod val="50000"/>
            </a:schemeClr>
          </a:solidFill>
          <a:scene3d>
            <a:camera prst="orthographicFront"/>
            <a:lightRig rig="threePt"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8" name="Imagen 17">
            <a:extLst>
              <a:ext uri="{FF2B5EF4-FFF2-40B4-BE49-F238E27FC236}">
                <a16:creationId xmlns:a16="http://schemas.microsoft.com/office/drawing/2014/main" id="{BCF6CE6F-87F6-6E1B-A63F-F4245E3B1F9B}"/>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l="18998" t="10901" r="17517" b="5808"/>
          <a:stretch>
            <a:fillRect/>
          </a:stretch>
        </p:blipFill>
        <p:spPr>
          <a:xfrm>
            <a:off x="5556408" y="1241044"/>
            <a:ext cx="5645001" cy="4937404"/>
          </a:xfrm>
          <a:prstGeom prst="rect">
            <a:avLst/>
          </a:prstGeom>
        </p:spPr>
      </p:pic>
      <p:sp>
        <p:nvSpPr>
          <p:cNvPr id="3" name="Rectángulo 2">
            <a:extLst>
              <a:ext uri="{FF2B5EF4-FFF2-40B4-BE49-F238E27FC236}">
                <a16:creationId xmlns:a16="http://schemas.microsoft.com/office/drawing/2014/main" id="{B8CA4D85-B9B4-DAB8-3A0C-C3CF69F86B13}"/>
              </a:ext>
            </a:extLst>
          </p:cNvPr>
          <p:cNvSpPr/>
          <p:nvPr/>
        </p:nvSpPr>
        <p:spPr>
          <a:xfrm flipH="1">
            <a:off x="1053397" y="963565"/>
            <a:ext cx="45719" cy="4907437"/>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Rectángulo 3">
            <a:extLst>
              <a:ext uri="{FF2B5EF4-FFF2-40B4-BE49-F238E27FC236}">
                <a16:creationId xmlns:a16="http://schemas.microsoft.com/office/drawing/2014/main" id="{2F22D85B-2B12-309E-2294-B984D2071668}"/>
              </a:ext>
            </a:extLst>
          </p:cNvPr>
          <p:cNvSpPr/>
          <p:nvPr/>
        </p:nvSpPr>
        <p:spPr>
          <a:xfrm flipH="1">
            <a:off x="11279929" y="970365"/>
            <a:ext cx="45719" cy="228816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6" name="Rectángulo 25">
            <a:extLst>
              <a:ext uri="{FF2B5EF4-FFF2-40B4-BE49-F238E27FC236}">
                <a16:creationId xmlns:a16="http://schemas.microsoft.com/office/drawing/2014/main" id="{A4031C9D-A49D-1F72-FCD4-035B7BBABADC}"/>
              </a:ext>
            </a:extLst>
          </p:cNvPr>
          <p:cNvSpPr/>
          <p:nvPr/>
        </p:nvSpPr>
        <p:spPr>
          <a:xfrm rot="5400000">
            <a:off x="1656521" y="-453126"/>
            <a:ext cx="61702" cy="2060856"/>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7" name="Rectángulo 26">
            <a:extLst>
              <a:ext uri="{FF2B5EF4-FFF2-40B4-BE49-F238E27FC236}">
                <a16:creationId xmlns:a16="http://schemas.microsoft.com/office/drawing/2014/main" id="{38ABE638-9B36-DABC-B8D3-A322741DC76C}"/>
              </a:ext>
            </a:extLst>
          </p:cNvPr>
          <p:cNvSpPr/>
          <p:nvPr/>
        </p:nvSpPr>
        <p:spPr>
          <a:xfrm rot="5400000">
            <a:off x="4370395" y="2554578"/>
            <a:ext cx="45719" cy="6679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8" name="Rectángulo 27">
            <a:extLst>
              <a:ext uri="{FF2B5EF4-FFF2-40B4-BE49-F238E27FC236}">
                <a16:creationId xmlns:a16="http://schemas.microsoft.com/office/drawing/2014/main" id="{8F54111A-C45C-D95F-FFCB-5D63778F9DFA}"/>
              </a:ext>
            </a:extLst>
          </p:cNvPr>
          <p:cNvSpPr/>
          <p:nvPr/>
        </p:nvSpPr>
        <p:spPr>
          <a:xfrm rot="5400000">
            <a:off x="1960546" y="-376976"/>
            <a:ext cx="72527" cy="2330980"/>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9" name="Rectángulo 28">
            <a:extLst>
              <a:ext uri="{FF2B5EF4-FFF2-40B4-BE49-F238E27FC236}">
                <a16:creationId xmlns:a16="http://schemas.microsoft.com/office/drawing/2014/main" id="{7DAF071A-816B-2DE4-FD4B-CC9F26CF2A39}"/>
              </a:ext>
            </a:extLst>
          </p:cNvPr>
          <p:cNvSpPr/>
          <p:nvPr/>
        </p:nvSpPr>
        <p:spPr>
          <a:xfrm rot="10800000" flipH="1">
            <a:off x="619454" y="564137"/>
            <a:ext cx="45720" cy="223657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0" name="Rectángulo 29">
            <a:extLst>
              <a:ext uri="{FF2B5EF4-FFF2-40B4-BE49-F238E27FC236}">
                <a16:creationId xmlns:a16="http://schemas.microsoft.com/office/drawing/2014/main" id="{529C78C7-9F8F-47C9-F1F0-AC4C398B1173}"/>
              </a:ext>
            </a:extLst>
          </p:cNvPr>
          <p:cNvSpPr/>
          <p:nvPr/>
        </p:nvSpPr>
        <p:spPr>
          <a:xfrm rot="16200000" flipH="1">
            <a:off x="6166665" y="-4107459"/>
            <a:ext cx="45719" cy="101808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1" name="Rectángulo 30">
            <a:extLst>
              <a:ext uri="{FF2B5EF4-FFF2-40B4-BE49-F238E27FC236}">
                <a16:creationId xmlns:a16="http://schemas.microsoft.com/office/drawing/2014/main" id="{9E6D7EB0-764B-533E-6E9D-FE308EA4F542}"/>
              </a:ext>
            </a:extLst>
          </p:cNvPr>
          <p:cNvSpPr/>
          <p:nvPr/>
        </p:nvSpPr>
        <p:spPr>
          <a:xfrm rot="5400000">
            <a:off x="10303234" y="-696056"/>
            <a:ext cx="45719" cy="241498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2" name="Rectángulo 31">
            <a:extLst>
              <a:ext uri="{FF2B5EF4-FFF2-40B4-BE49-F238E27FC236}">
                <a16:creationId xmlns:a16="http://schemas.microsoft.com/office/drawing/2014/main" id="{0D853B79-56DE-4889-C857-1EBE9EE2CBA6}"/>
              </a:ext>
            </a:extLst>
          </p:cNvPr>
          <p:cNvSpPr/>
          <p:nvPr/>
        </p:nvSpPr>
        <p:spPr>
          <a:xfrm rot="10800000">
            <a:off x="11481333" y="546449"/>
            <a:ext cx="45719" cy="320633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3" name="Rectángulo 32">
            <a:extLst>
              <a:ext uri="{FF2B5EF4-FFF2-40B4-BE49-F238E27FC236}">
                <a16:creationId xmlns:a16="http://schemas.microsoft.com/office/drawing/2014/main" id="{D45D250B-018A-4220-DDB2-9D460651AA71}"/>
              </a:ext>
            </a:extLst>
          </p:cNvPr>
          <p:cNvSpPr/>
          <p:nvPr/>
        </p:nvSpPr>
        <p:spPr>
          <a:xfrm flipH="1">
            <a:off x="726970" y="4949259"/>
            <a:ext cx="45719" cy="1222958"/>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4" name="Rectángulo 33">
            <a:extLst>
              <a:ext uri="{FF2B5EF4-FFF2-40B4-BE49-F238E27FC236}">
                <a16:creationId xmlns:a16="http://schemas.microsoft.com/office/drawing/2014/main" id="{8197F36F-215B-5178-E183-58F75B302595}"/>
              </a:ext>
            </a:extLst>
          </p:cNvPr>
          <p:cNvSpPr/>
          <p:nvPr/>
        </p:nvSpPr>
        <p:spPr>
          <a:xfrm rot="5400000">
            <a:off x="1544393" y="5343222"/>
            <a:ext cx="45719" cy="170371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35" name="Rectángulo 34">
            <a:extLst>
              <a:ext uri="{FF2B5EF4-FFF2-40B4-BE49-F238E27FC236}">
                <a16:creationId xmlns:a16="http://schemas.microsoft.com/office/drawing/2014/main" id="{84766EAF-52C7-E693-A7CC-51F7BA52178C}"/>
              </a:ext>
            </a:extLst>
          </p:cNvPr>
          <p:cNvSpPr/>
          <p:nvPr/>
        </p:nvSpPr>
        <p:spPr>
          <a:xfrm rot="10800000">
            <a:off x="11640631" y="674808"/>
            <a:ext cx="45719" cy="1378142"/>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6" name="Rectángulo 35">
            <a:extLst>
              <a:ext uri="{FF2B5EF4-FFF2-40B4-BE49-F238E27FC236}">
                <a16:creationId xmlns:a16="http://schemas.microsoft.com/office/drawing/2014/main" id="{3104DCDD-35FE-E508-6C56-CD8F525D973B}"/>
              </a:ext>
            </a:extLst>
          </p:cNvPr>
          <p:cNvSpPr/>
          <p:nvPr/>
        </p:nvSpPr>
        <p:spPr>
          <a:xfrm rot="16200000">
            <a:off x="10116941" y="-826199"/>
            <a:ext cx="45719" cy="3033003"/>
          </a:xfrm>
          <a:prstGeom prst="rect">
            <a:avLst/>
          </a:prstGeom>
          <a:solidFill>
            <a:srgbClr val="C7A152"/>
          </a:solidFill>
          <a:ln>
            <a:solidFill>
              <a:srgbClr val="C7A1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8" name="CuadroTexto 37">
            <a:extLst>
              <a:ext uri="{FF2B5EF4-FFF2-40B4-BE49-F238E27FC236}">
                <a16:creationId xmlns:a16="http://schemas.microsoft.com/office/drawing/2014/main" id="{0AE3157E-5E1E-1493-89BE-EAD1D644F373}"/>
              </a:ext>
            </a:extLst>
          </p:cNvPr>
          <p:cNvSpPr txBox="1"/>
          <p:nvPr/>
        </p:nvSpPr>
        <p:spPr>
          <a:xfrm>
            <a:off x="1895992" y="1989802"/>
            <a:ext cx="4885988" cy="2800767"/>
          </a:xfrm>
          <a:prstGeom prst="rect">
            <a:avLst/>
          </a:prstGeom>
          <a:noFill/>
          <a:ln>
            <a:solidFill>
              <a:schemeClr val="bg1">
                <a:lumMod val="95000"/>
              </a:schemeClr>
            </a:solidFill>
          </a:ln>
        </p:spPr>
        <p:txBody>
          <a:bodyPr wrap="square" rtlCol="0">
            <a:spAutoFit/>
          </a:bodyPr>
          <a:lstStyle/>
          <a:p>
            <a:r>
              <a:rPr lang="es-NI" sz="8800" b="1" dirty="0">
                <a:solidFill>
                  <a:srgbClr val="2B5E8D"/>
                </a:solidFill>
                <a:latin typeface="Times New Roman" panose="02020603050405020304" pitchFamily="18" charset="0"/>
                <a:cs typeface="Times New Roman" panose="02020603050405020304" pitchFamily="18" charset="0"/>
              </a:rPr>
              <a:t>Muchas</a:t>
            </a:r>
          </a:p>
          <a:p>
            <a:r>
              <a:rPr lang="es-NI" sz="8800" b="1" dirty="0">
                <a:solidFill>
                  <a:srgbClr val="C39E51"/>
                </a:solidFill>
                <a:latin typeface="Times New Roman" panose="02020603050405020304" pitchFamily="18" charset="0"/>
                <a:cs typeface="Times New Roman" panose="02020603050405020304" pitchFamily="18" charset="0"/>
              </a:rPr>
              <a:t>Gracias</a:t>
            </a:r>
          </a:p>
        </p:txBody>
      </p:sp>
    </p:spTree>
    <p:extLst>
      <p:ext uri="{BB962C8B-B14F-4D97-AF65-F5344CB8AC3E}">
        <p14:creationId xmlns:p14="http://schemas.microsoft.com/office/powerpoint/2010/main" val="394209695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712</Words>
  <Application>Microsoft Office PowerPoint</Application>
  <PresentationFormat>Panorámica</PresentationFormat>
  <Paragraphs>62</Paragraphs>
  <Slides>14</Slides>
  <Notes>0</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14</vt:i4>
      </vt:variant>
    </vt:vector>
  </HeadingPairs>
  <TitlesOfParts>
    <vt:vector size="22" baseType="lpstr">
      <vt:lpstr>Arial</vt:lpstr>
      <vt:lpstr>Calibri</vt:lpstr>
      <vt:lpstr>Calibri Light</vt:lpstr>
      <vt:lpstr>Sans Serif Collection</vt:lpstr>
      <vt:lpstr>Sans-serif</vt:lpstr>
      <vt:lpstr>Times New Roman</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Cristofer Espinoza</dc:creator>
  <cp:lastModifiedBy>Sebastian Saravia Bermúdez</cp:lastModifiedBy>
  <cp:revision>15</cp:revision>
  <dcterms:created xsi:type="dcterms:W3CDTF">2026-09-02T17:24:00Z</dcterms:created>
  <dcterms:modified xsi:type="dcterms:W3CDTF">2026-09-08T03:51:48Z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3082-12.1.0.28032</vt:lpwstr>
  </property>
  <property fmtid="{D5CDD505-2E9C-101B-9397-08002B2CF9AE}" pid="3" name="ICV">
    <vt:lpwstr>3D0004360833420487A6B609DB3D1320_13</vt:lpwstr>
  </property>
</Properties>
</file>